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7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2" r:id="rId17"/>
    <p:sldId id="273" r:id="rId18"/>
    <p:sldId id="274" r:id="rId19"/>
    <p:sldId id="275" r:id="rId20"/>
    <p:sldId id="271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4630400" cy="8229600"/>
  <p:notesSz cx="8229600" cy="14630400"/>
  <p:embeddedFontLst>
    <p:embeddedFont>
      <p:font typeface="Arial Black" panose="020B0A04020102020204" pitchFamily="34" charset="0"/>
      <p:bold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Raleway" pitchFamily="2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</p:embeddedFontLst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75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31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50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669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10" Type="http://schemas.openxmlformats.org/officeDocument/2006/relationships/image" Target="../media/image8.png"/><Relationship Id="rId4" Type="http://schemas.openxmlformats.org/officeDocument/2006/relationships/image" Target="../media/image25.svg"/><Relationship Id="rId9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8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jpe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hyperlink" Target="https://creacioneslucianitav1-6.onrender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4.png"/><Relationship Id="rId7" Type="http://schemas.openxmlformats.org/officeDocument/2006/relationships/image" Target="../media/image5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image" Target="../media/image64.pn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0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image" Target="../media/image69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667941"/>
            <a:ext cx="7556421" cy="1675567"/>
          </a:xfrm>
          <a:prstGeom prst="roundRect">
            <a:avLst>
              <a:gd name="adj" fmla="val 4264"/>
            </a:avLst>
          </a:prstGeom>
          <a:solidFill>
            <a:srgbClr val="E1E1EA"/>
          </a:solidFill>
          <a:ln w="7620">
            <a:solidFill>
              <a:srgbClr val="1B1B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57831" y="845582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1B1B2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8206" y="985837"/>
            <a:ext cx="229553" cy="2295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57831" y="1525905"/>
            <a:ext cx="517588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UNIVERSIDAD AUTÓNOMA JUAN MISAEL SARACHO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457831" y="1893689"/>
            <a:ext cx="720113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FACULTAD DE CIENCIAS Y TECNOLOGÍA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80190" y="2513528"/>
            <a:ext cx="7556421" cy="1675567"/>
          </a:xfrm>
          <a:prstGeom prst="roundRect">
            <a:avLst>
              <a:gd name="adj" fmla="val 4264"/>
            </a:avLst>
          </a:prstGeom>
          <a:solidFill>
            <a:srgbClr val="E1E1EA"/>
          </a:solidFill>
          <a:ln w="7620">
            <a:solidFill>
              <a:srgbClr val="1B1B2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57831" y="2691170"/>
            <a:ext cx="510302" cy="510302"/>
          </a:xfrm>
          <a:prstGeom prst="roundRect">
            <a:avLst>
              <a:gd name="adj" fmla="val 17917009"/>
            </a:avLst>
          </a:prstGeom>
          <a:solidFill>
            <a:srgbClr val="1B1B2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8206" y="2831425"/>
            <a:ext cx="229553" cy="2295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57831" y="3371493"/>
            <a:ext cx="400931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CARRERA DE INGENIERÍA INFORMÁTICA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457831" y="3739277"/>
            <a:ext cx="720113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TALLER III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280190" y="4444246"/>
            <a:ext cx="7556421" cy="2126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"MEJORAMIENTO DE LA GESTIÓN DE COMPRAS Y VENTAS DE CREACIONES LUCIANITA A TRAVÉS DE LAS TIC"</a:t>
            </a:r>
            <a:endParaRPr lang="en-US" sz="3300" b="1" dirty="0"/>
          </a:p>
        </p:txBody>
      </p:sp>
      <p:sp>
        <p:nvSpPr>
          <p:cNvPr id="14" name="Text 9"/>
          <p:cNvSpPr/>
          <p:nvPr/>
        </p:nvSpPr>
        <p:spPr>
          <a:xfrm>
            <a:off x="6280190" y="6825853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POR: NESTOR ABILA FLORES CLEMENTE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80190" y="7289363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Tarija, Bolivia 2025</a:t>
            </a:r>
            <a:endParaRPr lang="en-US" sz="13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DAB3665-76E1-4390-B460-62964C4E64FC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0529" y="273287"/>
            <a:ext cx="3234417" cy="463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BO" sz="2400" b="1" dirty="0">
                <a:solidFill>
                  <a:srgbClr val="1B1B27"/>
                </a:solidFill>
                <a:latin typeface="Raleway" pitchFamily="34" charset="0"/>
              </a:rPr>
              <a:t>Modelo de Negocio</a:t>
            </a:r>
            <a:endParaRPr lang="es-BO" sz="2400" b="1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390" y="0"/>
            <a:ext cx="6481010" cy="8229600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6807B4C5-6985-4FA5-8B8E-5923A258CD31}"/>
              </a:ext>
            </a:extLst>
          </p:cNvPr>
          <p:cNvSpPr/>
          <p:nvPr/>
        </p:nvSpPr>
        <p:spPr>
          <a:xfrm>
            <a:off x="12577011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01C1C5-96EB-4B5F-8DD2-5DE12F448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E40F9A-DDDB-4A52-83F4-BEBC45975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4" y="901365"/>
            <a:ext cx="8082006" cy="726179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923"/>
            <a:ext cx="14630400" cy="2409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6274" y="2641496"/>
            <a:ext cx="3800356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Planteamiento del problema</a:t>
            </a:r>
            <a:endParaRPr lang="en-US" sz="2250" b="1" dirty="0"/>
          </a:p>
        </p:txBody>
      </p:sp>
      <p:sp>
        <p:nvSpPr>
          <p:cNvPr id="4" name="Text 1"/>
          <p:cNvSpPr/>
          <p:nvPr/>
        </p:nvSpPr>
        <p:spPr>
          <a:xfrm>
            <a:off x="793790" y="3244567"/>
            <a:ext cx="13042821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Ineficiencia en los procesos y control de compras, ventas y pedidos en creaciones Lucianita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34" y="4022802"/>
            <a:ext cx="3578161" cy="369433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4DD12BC-69F5-4F73-935B-AD927CC6B932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8B1619-0E91-4D1D-A096-A000632FC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2783"/>
            <a:ext cx="400097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Justificación del proyecto</a:t>
            </a:r>
            <a:endParaRPr lang="en-US" sz="265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33387"/>
            <a:ext cx="4990148" cy="3747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355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Tecnológico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2333387"/>
            <a:ext cx="3600807" cy="28805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99521" y="54691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Económica</a:t>
            </a:r>
            <a:endParaRPr lang="en-US" sz="2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7D51024-393B-44DC-92A0-E78B16E131E3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B50A7F2-2956-4833-85CA-BDE90837E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1061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</a:t>
            </a:r>
            <a:endParaRPr lang="en-US" sz="24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89509"/>
            <a:ext cx="5645110" cy="3078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09766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 general</a:t>
            </a:r>
            <a:endParaRPr lang="en-US" sz="2000" b="1" dirty="0"/>
          </a:p>
        </p:txBody>
      </p:sp>
      <p:sp>
        <p:nvSpPr>
          <p:cNvPr id="5" name="Text 2"/>
          <p:cNvSpPr/>
          <p:nvPr/>
        </p:nvSpPr>
        <p:spPr>
          <a:xfrm>
            <a:off x="793790" y="5620583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Mejorar la gestión compras y ventas de Creaciones Lucianita a treves de las TIC.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780" y="1789509"/>
            <a:ext cx="3419356" cy="29687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1780" y="498776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 específicos</a:t>
            </a:r>
            <a:endParaRPr lang="en-US" sz="2000" b="1" dirty="0"/>
          </a:p>
        </p:txBody>
      </p:sp>
      <p:sp>
        <p:nvSpPr>
          <p:cNvPr id="8" name="Text 4"/>
          <p:cNvSpPr/>
          <p:nvPr/>
        </p:nvSpPr>
        <p:spPr>
          <a:xfrm>
            <a:off x="7571780" y="5510689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Sistema informático web para la gestión de compras y ventas en Creaciones Lucianita.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71780" y="6235541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Aplicación móvil para la gestión de pedidos.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71780" y="6633686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Brindar capacitación al personal en el manejo del sistema informático web.</a:t>
            </a:r>
            <a:endParaRPr lang="en-U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7735C0-86FA-41FF-9456-6DD21AFD760C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4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EEFA97E-E484-45DE-8826-D3F0E972B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6485" y="148302"/>
            <a:ext cx="357723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Matriz de Marco lógico</a:t>
            </a:r>
            <a:endParaRPr lang="en-US" sz="265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98D76B5-4108-4E34-9F9C-9FB1DA8D56B5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5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D01461-CDA7-4232-9FCA-8C35BFB55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28" y="561493"/>
            <a:ext cx="11522743" cy="7519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39333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FE0663-1A83-46DC-9A3F-443515BB80E2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7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5AB7B0-0442-49D6-A74C-4DF2548D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097" y="271664"/>
            <a:ext cx="12334136" cy="76862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39333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FE0663-1A83-46DC-9A3F-443515BB80E2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7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16D915-D1C0-4EAF-AD25-BCC904DEB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688507"/>
            <a:ext cx="13407952" cy="685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37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77821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COMPONENTE I</a:t>
            </a:r>
            <a:endParaRPr lang="en-US" sz="3550" b="1" dirty="0"/>
          </a:p>
        </p:txBody>
      </p:sp>
      <p:sp>
        <p:nvSpPr>
          <p:cNvPr id="4" name="Text 1"/>
          <p:cNvSpPr/>
          <p:nvPr/>
        </p:nvSpPr>
        <p:spPr>
          <a:xfrm>
            <a:off x="793790" y="5435918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 informático web para la gestión de compras y ventas en Creaciones Lucianita.</a:t>
            </a:r>
            <a:endParaRPr lang="en-US" sz="26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9D34A1-360A-4BB0-9579-B0FD4BD1B1B5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7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78F4F3-9826-4D01-BD75-581775AF0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18766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</a:t>
            </a:r>
            <a:endParaRPr lang="en-US" sz="2650" b="1" dirty="0"/>
          </a:p>
        </p:txBody>
      </p:sp>
      <p:sp>
        <p:nvSpPr>
          <p:cNvPr id="4" name="Text 1"/>
          <p:cNvSpPr/>
          <p:nvPr/>
        </p:nvSpPr>
        <p:spPr>
          <a:xfrm>
            <a:off x="793791" y="3953112"/>
            <a:ext cx="3697998" cy="3153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una metodología ágil, iterativa e incremental que trabaja en ciclos cortos para entregar partes funcionales del producto, permitiendo adaptarse fácilmente a cambios y mejorar continuamente.</a:t>
            </a:r>
            <a:endParaRPr lang="en-US" sz="175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B95D69-A83B-4634-8CAF-93ABE883D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1" y="86966"/>
            <a:ext cx="9448800" cy="814263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72E7D0C-5348-4B17-B88B-72F72A965B40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8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F616A5-FF5F-444D-831C-061DC9A00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78678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Jira:</a:t>
            </a:r>
            <a:endParaRPr lang="en-US" sz="2650" b="1" dirty="0"/>
          </a:p>
        </p:txBody>
      </p:sp>
      <p:sp>
        <p:nvSpPr>
          <p:cNvPr id="4" name="Text 1"/>
          <p:cNvSpPr/>
          <p:nvPr/>
        </p:nvSpPr>
        <p:spPr>
          <a:xfrm>
            <a:off x="793790" y="55522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una herramienta digital para gestionar proyectos y tareas. Se adapta a Scrum porque permite organizar sprints, visualizar el progreso en tableros y hacer seguimiento del trabajo de forma ágil y ordenada.</a:t>
            </a:r>
            <a:endParaRPr lang="en-US" sz="17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EE78D2-F454-4FC8-BF87-B3CCF3306FFF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9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33D6CE-47F4-43C3-9441-4D6837B96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88402" y="3515121"/>
            <a:ext cx="2879852" cy="2078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Backlog </a:t>
            </a:r>
            <a:r>
              <a:rPr lang="es-BO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Inicial</a:t>
            </a: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proyecto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A2B287-9B96-4ECC-8CCE-BF87FEDA72E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31533" y="1216503"/>
            <a:ext cx="9466783" cy="613078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36E62FB-0D66-4DD4-8B81-EC8CBF50CDDB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10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3AEBCE-B497-46F6-8572-BD3164B7F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522217" y="390215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Creación de épicos</a:t>
            </a:r>
            <a:endParaRPr lang="en-US" sz="26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60921D-804A-4F14-AB0D-AF9872A4359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442693"/>
            <a:ext cx="9527144" cy="376950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14170C1-CED3-4695-9A31-E556AAB50D26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11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97CC36-2E49-41CE-8240-3B5F5FD64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0298" y="707258"/>
            <a:ext cx="415551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Planificación de los sprints</a:t>
            </a:r>
            <a:endParaRPr lang="en-US" sz="2650" b="1" dirty="0"/>
          </a:p>
        </p:txBody>
      </p:sp>
      <p:sp>
        <p:nvSpPr>
          <p:cNvPr id="4" name="Text 1"/>
          <p:cNvSpPr/>
          <p:nvPr/>
        </p:nvSpPr>
        <p:spPr>
          <a:xfrm>
            <a:off x="560886" y="106359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crearon los ocho sprints, distribuyendo las tareas según prioridad y responsables.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707940" y="1063594"/>
            <a:ext cx="6216608" cy="103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sprint contiene las historias y tareas en estado Por hacer, listas para su ejecución</a:t>
            </a:r>
            <a:endParaRPr lang="en-US" sz="17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42B055-04CB-4E94-9604-A34FEBA12FA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09870" y="1933089"/>
            <a:ext cx="12210660" cy="563022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22AD3BF-4392-4776-8541-46EFCE8D78D8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12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E3D4AE8-0CB7-421D-850C-30896AC7F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10113"/>
            <a:ext cx="386524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s-BO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Arquitectura</a:t>
            </a:r>
            <a:endParaRPr lang="es-BO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3689032"/>
            <a:ext cx="4196358" cy="1730454"/>
          </a:xfrm>
          <a:prstGeom prst="roundRect">
            <a:avLst>
              <a:gd name="adj" fmla="val 55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92346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4110514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830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 Servidor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216962" y="3689032"/>
            <a:ext cx="4196358" cy="1730454"/>
          </a:xfrm>
          <a:prstGeom prst="roundRect">
            <a:avLst>
              <a:gd name="adj" fmla="val 55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51396" y="392346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562" y="4110514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1396" y="4830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 Intermedia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9640133" y="3689032"/>
            <a:ext cx="4196358" cy="1730454"/>
          </a:xfrm>
          <a:prstGeom prst="roundRect">
            <a:avLst>
              <a:gd name="adj" fmla="val 55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74568" y="392346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4110514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4568" y="4830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 Cliente</a:t>
            </a:r>
            <a:endParaRPr lang="en-US" sz="220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88195B1-EB73-4A9F-9CED-F4A38DB0F7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2189" y="3689032"/>
            <a:ext cx="1596484" cy="1730454"/>
          </a:xfrm>
          <a:prstGeom prst="rect">
            <a:avLst/>
          </a:prstGeom>
        </p:spPr>
      </p:pic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5F85C1A6-4FDF-404E-8049-5505F109E3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457" y="3689033"/>
            <a:ext cx="1463863" cy="1730453"/>
          </a:xfrm>
          <a:prstGeom prst="rect">
            <a:avLst/>
          </a:prstGeom>
        </p:spPr>
      </p:pic>
      <p:pic>
        <p:nvPicPr>
          <p:cNvPr id="17" name="Picture 8" descr="Front End Vector Icon 16813073 Vector Art at Vecteezy">
            <a:extLst>
              <a:ext uri="{FF2B5EF4-FFF2-40B4-BE49-F238E27FC236}">
                <a16:creationId xmlns:a16="http://schemas.microsoft.com/office/drawing/2014/main" id="{9A74A609-33A9-418D-B8D4-4EDA88BD4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6589" y="3721526"/>
            <a:ext cx="1417636" cy="167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9C5A1CC-8E7D-4A64-855F-F0D3553FA515}"/>
              </a:ext>
            </a:extLst>
          </p:cNvPr>
          <p:cNvSpPr txBox="1"/>
          <p:nvPr/>
        </p:nvSpPr>
        <p:spPr>
          <a:xfrm>
            <a:off x="2098120" y="5411867"/>
            <a:ext cx="7315200" cy="42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s-BO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</a:t>
            </a: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s-BO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Negocio</a:t>
            </a:r>
            <a:endParaRPr lang="es-BO" sz="18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AF7A088-E8B8-4229-90B6-4066147A3971}"/>
              </a:ext>
            </a:extLst>
          </p:cNvPr>
          <p:cNvSpPr txBox="1"/>
          <p:nvPr/>
        </p:nvSpPr>
        <p:spPr>
          <a:xfrm>
            <a:off x="5638562" y="5451980"/>
            <a:ext cx="7315200" cy="42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s-BO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</a:t>
            </a: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</a:t>
            </a:r>
            <a:r>
              <a:rPr lang="es-BO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servidor</a:t>
            </a:r>
            <a:endParaRPr lang="es-BO" sz="18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4E2F3B7-000F-478C-9B67-7C1047C377BC}"/>
              </a:ext>
            </a:extLst>
          </p:cNvPr>
          <p:cNvSpPr txBox="1"/>
          <p:nvPr/>
        </p:nvSpPr>
        <p:spPr>
          <a:xfrm>
            <a:off x="10687389" y="5396298"/>
            <a:ext cx="3262508" cy="42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s-BO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</a:t>
            </a: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s-BO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</a:t>
            </a:r>
            <a:endParaRPr lang="es-BO" sz="18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97B9A0D-A134-41EF-9DCA-911D40DA6D33}"/>
              </a:ext>
            </a:extLst>
          </p:cNvPr>
          <p:cNvCxnSpPr/>
          <p:nvPr/>
        </p:nvCxnSpPr>
        <p:spPr>
          <a:xfrm>
            <a:off x="4170431" y="5694515"/>
            <a:ext cx="1280965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9E4FCDBB-EEEF-4AED-9B42-92335660EB0B}"/>
              </a:ext>
            </a:extLst>
          </p:cNvPr>
          <p:cNvCxnSpPr/>
          <p:nvPr/>
        </p:nvCxnSpPr>
        <p:spPr>
          <a:xfrm>
            <a:off x="8933824" y="5694515"/>
            <a:ext cx="1280965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CC933B2-3B87-4CCD-A149-A1CBC092EDB7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13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B024418-887F-47F9-9051-178694DEA4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4" grpId="0" animBg="1"/>
      <p:bldP spid="19" grpId="0"/>
      <p:bldP spid="21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1894403"/>
            <a:ext cx="6184582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Herramientas y Tecnologías para el desarrollo del componente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16" y="2541270"/>
            <a:ext cx="1770817" cy="177081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10" y="6311026"/>
            <a:ext cx="1770936" cy="177093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854" y="2541270"/>
            <a:ext cx="1770936" cy="1770936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732" y="2541270"/>
            <a:ext cx="1770817" cy="1770817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4492" y="2541270"/>
            <a:ext cx="1770936" cy="177093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9370" y="2541270"/>
            <a:ext cx="1770936" cy="1770936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84248" y="2541270"/>
            <a:ext cx="1770817" cy="1770817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216" y="4426148"/>
            <a:ext cx="1770817" cy="1770817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9975" y="4426148"/>
            <a:ext cx="1770936" cy="1770936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4854" y="4426148"/>
            <a:ext cx="1770936" cy="1770936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732" y="4426148"/>
            <a:ext cx="1770817" cy="1770817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4492" y="4426148"/>
            <a:ext cx="1770936" cy="1770936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99370" y="4426148"/>
            <a:ext cx="1770936" cy="1770936"/>
          </a:xfrm>
          <a:prstGeom prst="rect">
            <a:avLst/>
          </a:prstGeom>
        </p:spPr>
      </p:pic>
      <p:pic>
        <p:nvPicPr>
          <p:cNvPr id="16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84248" y="4426148"/>
            <a:ext cx="1770817" cy="1770817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E5AEB5EC-E40A-4608-8020-1FA7B6F5E8C8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14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9FF751-1236-4A78-9FF7-671F96B26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739" y="2682003"/>
            <a:ext cx="1483407" cy="163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30C41E7-6E47-4D97-96F6-AA0E7293F1D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83844"/>
            <a:ext cx="626173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Lenguaje Unificado de Modelado (UML</a:t>
            </a: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48492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Diagramas de casos de uso.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2914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Diagramas de secuencias.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7336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Diagrama de Actividades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758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Diagramas de clases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6180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Diagrama Entidad Relación</a:t>
            </a:r>
            <a:endParaRPr lang="en-US" sz="17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4FA31DA-E809-4F67-8F39-D054CDB71DA5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15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9DC10DD-2E7D-4DF7-B5D7-EFC6A37B7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A4E83D3B-56E4-4810-A746-E60C184F5934}"/>
              </a:ext>
            </a:extLst>
          </p:cNvPr>
          <p:cNvSpPr/>
          <p:nvPr/>
        </p:nvSpPr>
        <p:spPr>
          <a:xfrm>
            <a:off x="9117743" y="3345919"/>
            <a:ext cx="6261735" cy="191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</a:t>
            </a:r>
            <a:r>
              <a:rPr lang="es-BO" sz="26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iagrama</a:t>
            </a:r>
            <a:r>
              <a:rPr lang="es-BO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Casos de Uso </a:t>
            </a:r>
          </a:p>
          <a:p>
            <a:pPr marL="0" indent="0" algn="l">
              <a:lnSpc>
                <a:spcPts val="3300"/>
              </a:lnSpc>
              <a:buNone/>
            </a:pPr>
            <a:r>
              <a:rPr lang="es-BO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 del sistema</a:t>
            </a:r>
            <a:endParaRPr lang="en-US" sz="26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3B318B8-C636-4150-A721-29AE36B5A9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" y="0"/>
            <a:ext cx="8534400" cy="8229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A049D49D-9CCD-4A99-BEE3-5D30AB75E506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16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943899-54C9-4877-988E-419CECE0A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0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A4E83D3B-56E4-4810-A746-E60C184F5934}"/>
              </a:ext>
            </a:extLst>
          </p:cNvPr>
          <p:cNvSpPr/>
          <p:nvPr/>
        </p:nvSpPr>
        <p:spPr>
          <a:xfrm>
            <a:off x="5492227" y="502744"/>
            <a:ext cx="626173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</a:t>
            </a:r>
            <a:r>
              <a:rPr lang="es-BO" sz="26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iagrama</a:t>
            </a:r>
            <a:r>
              <a:rPr lang="es-BO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Clases</a:t>
            </a:r>
            <a:endParaRPr lang="en-US" sz="265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5B5EB4-C098-47BE-8667-03FD6C37EC4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107" y="947799"/>
            <a:ext cx="10257946" cy="70493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6BD9729-5E28-4651-B88D-7966F997D2ED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17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3939E7-0EAC-4B19-9700-4D1AF7302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09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84715"/>
            <a:ext cx="544734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sistema web informático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280190" y="32501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https://creacioneslucianitav1-6.onrender.com/</a:t>
            </a:r>
            <a:endParaRPr lang="en-US" sz="175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A6D4B2-DAC8-44AA-80C4-C223CB223972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18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2688C3-0A52-4F7C-B97F-2BC0B4105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8243" y="166827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480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COMPONENTE II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47517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móvil para la gestión de pedidos.</a:t>
            </a:r>
            <a:endParaRPr lang="en-US" sz="355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FE5BD50-D913-42D2-BB65-1CC824414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1094"/>
            <a:ext cx="739580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Tecnologías para el desarrollo del componente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75" y="3687027"/>
            <a:ext cx="2258525" cy="180663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332" y="3687027"/>
            <a:ext cx="2258525" cy="184359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8E6CAC5-A854-4582-956A-51250D765B24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20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1038BA-157A-428B-89A1-58CC51C9D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13453" y="3410908"/>
            <a:ext cx="4156472" cy="140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Diagrama de Casos de</a:t>
            </a:r>
            <a:r>
              <a:rPr lang="es-BO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uso</a:t>
            </a:r>
          </a:p>
          <a:p>
            <a:pPr marL="0" indent="0" algn="l">
              <a:lnSpc>
                <a:spcPts val="3300"/>
              </a:lnSpc>
              <a:buNone/>
            </a:pPr>
            <a:r>
              <a:rPr lang="es-BO" sz="2650" dirty="0">
                <a:solidFill>
                  <a:srgbClr val="1B1B27"/>
                </a:solidFill>
                <a:latin typeface="Raleway" pitchFamily="34" charset="0"/>
              </a:rPr>
              <a:t>Aplicación móvil</a:t>
            </a:r>
            <a:endParaRPr lang="es-BO" sz="265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02EFE6-015C-4DC7-962B-E65BB61303D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443" y="0"/>
            <a:ext cx="6079958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1F5BCFA-17CC-4743-9326-5CBE9B8D8899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21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F1406F-B04E-4096-9732-A113D9C4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38249" y="3902154"/>
            <a:ext cx="417695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Aplicación Móvil</a:t>
            </a:r>
            <a:endParaRPr lang="en-US" sz="265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B7FF4A-01FB-41F6-A93F-DAA492274541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22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C6F1EA-92A3-4ADC-9568-49D9CBC34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8032" y="178736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4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COMPONENTE III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6280190" y="3664029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Brindar capacitación al personal en el manejo del sistema informático web.</a:t>
            </a:r>
            <a:endParaRPr lang="en-US" sz="35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7BD1D7D-DFE3-4EED-8922-7D6351B2E7C0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23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40089A-157F-4F13-8BFA-EEA68DD04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8773"/>
            <a:ext cx="451651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 Demostrativo – Participativa</a:t>
            </a:r>
            <a:endParaRPr lang="en-US" sz="1850" b="1" dirty="0"/>
          </a:p>
        </p:txBody>
      </p:sp>
      <p:sp>
        <p:nvSpPr>
          <p:cNvPr id="3" name="Shape 1"/>
          <p:cNvSpPr/>
          <p:nvPr/>
        </p:nvSpPr>
        <p:spPr>
          <a:xfrm>
            <a:off x="793790" y="1512094"/>
            <a:ext cx="6441996" cy="3039308"/>
          </a:xfrm>
          <a:prstGeom prst="roundRect">
            <a:avLst>
              <a:gd name="adj" fmla="val 361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489234"/>
            <a:ext cx="6441996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</p:sp>
      <p:sp>
        <p:nvSpPr>
          <p:cNvPr id="5" name="Shape 3"/>
          <p:cNvSpPr/>
          <p:nvPr/>
        </p:nvSpPr>
        <p:spPr>
          <a:xfrm>
            <a:off x="3776662" y="127396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9537" y="1416844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5360" y="190892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 Expositiva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" y="2335530"/>
            <a:ext cx="2034302" cy="20343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94496" y="1512094"/>
            <a:ext cx="6442115" cy="3039308"/>
          </a:xfrm>
          <a:prstGeom prst="roundRect">
            <a:avLst>
              <a:gd name="adj" fmla="val 361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7394496" y="1489234"/>
            <a:ext cx="6442115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</p:sp>
      <p:sp>
        <p:nvSpPr>
          <p:cNvPr id="11" name="Shape 7"/>
          <p:cNvSpPr/>
          <p:nvPr/>
        </p:nvSpPr>
        <p:spPr>
          <a:xfrm>
            <a:off x="10377368" y="127396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0243" y="1416844"/>
            <a:ext cx="1905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76066" y="190892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 Participativa</a:t>
            </a:r>
            <a:endParaRPr lang="en-US" sz="1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6066" y="2335530"/>
            <a:ext cx="1418987" cy="141898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93790" y="4948238"/>
            <a:ext cx="6441996" cy="2622471"/>
          </a:xfrm>
          <a:prstGeom prst="roundRect">
            <a:avLst>
              <a:gd name="adj" fmla="val 418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793790" y="4925378"/>
            <a:ext cx="6441996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</p:sp>
      <p:sp>
        <p:nvSpPr>
          <p:cNvPr id="17" name="Shape 11"/>
          <p:cNvSpPr/>
          <p:nvPr/>
        </p:nvSpPr>
        <p:spPr>
          <a:xfrm>
            <a:off x="3776662" y="4710113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9537" y="4852988"/>
            <a:ext cx="190500" cy="1905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75360" y="534507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 Demostrativa</a:t>
            </a:r>
            <a:endParaRPr lang="en-US" sz="15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360" y="5771674"/>
            <a:ext cx="1617464" cy="161746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394496" y="4948238"/>
            <a:ext cx="6442115" cy="2622471"/>
          </a:xfrm>
          <a:prstGeom prst="roundRect">
            <a:avLst>
              <a:gd name="adj" fmla="val 418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7394496" y="4925378"/>
            <a:ext cx="6442115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</p:sp>
      <p:sp>
        <p:nvSpPr>
          <p:cNvPr id="23" name="Shape 15"/>
          <p:cNvSpPr/>
          <p:nvPr/>
        </p:nvSpPr>
        <p:spPr>
          <a:xfrm>
            <a:off x="10377368" y="4710113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20243" y="4852988"/>
            <a:ext cx="190500" cy="1905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76066" y="5345073"/>
            <a:ext cx="243709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Fase de Retroalimentación</a:t>
            </a:r>
            <a:endParaRPr lang="en-US" sz="15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6066" y="5771674"/>
            <a:ext cx="1418987" cy="1312664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E9DE9C18-98A7-4F68-BDE8-AAA41DB65882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24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E5763F5E-AD8E-4E84-B0AE-5A986ABAB2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08453" y="112055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9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3552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</a:t>
            </a:r>
            <a:endParaRPr lang="en-US" sz="2500" b="1" dirty="0"/>
          </a:p>
        </p:txBody>
      </p:sp>
      <p:sp>
        <p:nvSpPr>
          <p:cNvPr id="3" name="Text 1"/>
          <p:cNvSpPr/>
          <p:nvPr/>
        </p:nvSpPr>
        <p:spPr>
          <a:xfrm>
            <a:off x="793790" y="162841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proyecto se desarrollaron tres componentes esenciales donde: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215634"/>
            <a:ext cx="13042821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primer componente abarcó el desarrollo de un sistema informático web para la gestión de compras y ventas de Creaciones Lucianita, alcanzando de manera efectiva el objetivo planteado de este componente. El sistema fue diseñado y programado cumpliendo con los requerimientos bajo la norma IEEE830 y se realizaron pruebas funcionales y no funcionales, evaluando su rendimiento, seguridad y compatibilidad, lo que confirmó su eficiencia. Esto permitió automatizar el 89.47% de los procesos de compras y ventas, logrando optimizar significativamente la gestión administrativa de Creaciones Lucianita.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3790" y="4015026"/>
            <a:ext cx="130428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segundo componente abarco el desarrollo de una aplicación móvil para la gestión de pedidos, destinada a los clientes. La aplicación fue diseñada y programada con base en los requerimientos establecidos y se realizaron pruebas de funcionamiento que garantizaron su eficiencia y correcta operación en dispositivos Android.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5124807"/>
            <a:ext cx="130428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tercer componente consistió en la capacitación al personal en el uso del sistema informático web, logrando que los usuarios comprendan y utilicen adecuadamente todas las funcionalidades del sistema, asegurando un manejo eficiente de los procesos de compras y ventas.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6401633"/>
            <a:ext cx="130428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conclusión</a:t>
            </a: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La implementación de sistema informático y aplicación móvil adecuadas permite optimizar los procesos administrativos, mejorar la comunicación interna y la atención al cliente, así como garantizar la veracidad de la información y la eficiencia en la gestión de compras y ventas en Creaciones Lucianita.</a:t>
            </a:r>
            <a:endParaRPr lang="en-US" sz="16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17E140-251E-4025-BF28-0D77B73E6926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25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D978711-CAE3-44DC-965B-339311EC9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411" y="21077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Recomendaciones</a:t>
            </a:r>
            <a:endParaRPr lang="en-US" sz="2650" b="1" dirty="0"/>
          </a:p>
        </p:txBody>
      </p:sp>
      <p:sp>
        <p:nvSpPr>
          <p:cNvPr id="3" name="Text 1"/>
          <p:cNvSpPr/>
          <p:nvPr/>
        </p:nvSpPr>
        <p:spPr>
          <a:xfrm>
            <a:off x="793790" y="30503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vez concluido el proyecto: Mejoramiento de la gestión de compras y ventas de Creaciones Lucianita, se recomienda: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53445"/>
            <a:ext cx="5221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la propietaria de Creaciones Lucianita</a:t>
            </a: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4793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los recursos tecnológicos y la conectividad adecuados para garantizar el funcionamiento continuo del sistema web y la aplicación móvil.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530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Establecer formalmente al responsable del uso y administración del sistema, asegurando su sostenibilidad a largo plazo.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952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Asignar un presupuesto para mantenimiento, actualización y futuras mejoras del sistema web y la aplicación móvil.</a:t>
            </a:r>
            <a:endParaRPr lang="en-US" sz="17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4F5C79-EEBF-4459-AEDB-B608EFD5BD59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26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73D29DA-DA6E-4BDE-8880-B30C2A797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1691"/>
            <a:ext cx="562498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 personal que gestiona el sistema</a:t>
            </a: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39306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Definir roles de usuario claramente para evitar modificaciones indebidas en la información del sistema.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728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Revisar el manual de usuario y seguir las instrucciones para un correcto uso, mantenimiento y futura ampliación del sistema.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150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Continuar con capacitaciones periódicas para reforzar el uso adecuado del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web.</a:t>
            </a:r>
            <a:endParaRPr lang="en-US" sz="17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FC57949-4DA4-4C86-99FC-3E289BF61386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27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11D75FF-AEE0-41B2-9016-C52B598C6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3688"/>
            <a:ext cx="405312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nuevos desarrolladores</a:t>
            </a: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7626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Revisar el manual de usuario y de instalación antes de realizar cualquier intervención.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048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Contar con conocimientos en desarrollo web y móvil (por ejemplo, Angular, Node.js, PostgreSQL, Ionic y Android Studio).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4700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Verificar la compatibilidad de los programas antes de instalarlos, para evitar problemas de programación y ahorro de recursos.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5210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futuras ampliaciones del sistema, considerar módulos adicionales para la gestión contable (Gestion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pasarelas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pago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inventario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producción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y otras funcionalidades que puedan fortalecer el control administrativo.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5720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general, se recomienda que los estudios y experiencias de este proyecto puedan servir como base para la implementación de sistemas similares en otras microempresas, dado su impacto positivo en la eficiencia de la gestión administrativa y atención al cliente</a:t>
            </a:r>
            <a:endParaRPr lang="en-US" sz="17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DD5DFB-710B-42EA-BFB4-C98E2BC261CF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29</a:t>
            </a:r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8314FE5-4EBF-4114-BA50-6F58B2027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1362"/>
            <a:ext cx="4238863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4450"/>
              </a:lnSpc>
              <a:buNone/>
            </a:pPr>
            <a:r>
              <a:rPr lang="en-US" sz="3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¡GRACIAS POR SU ATENCIÓN!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832253"/>
            <a:ext cx="4564975" cy="45649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4585" y="3264218"/>
            <a:ext cx="318968" cy="318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97628" y="201751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PREGUNTAS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9597628" y="2578894"/>
            <a:ext cx="42389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¿Dudas o comentarios?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832253"/>
            <a:ext cx="4564975" cy="45649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8797" y="2837140"/>
            <a:ext cx="318968" cy="31896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1832253"/>
            <a:ext cx="4564975" cy="456497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041" y="3955137"/>
            <a:ext cx="318968" cy="318968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1832253"/>
            <a:ext cx="4564975" cy="4564975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18797" y="5073134"/>
            <a:ext cx="318968" cy="318968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832253"/>
            <a:ext cx="4564975" cy="4564975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04585" y="4646057"/>
            <a:ext cx="318968" cy="318968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3BE6463C-4B69-427C-B2CB-CED930E968D0}"/>
              </a:ext>
            </a:extLst>
          </p:cNvPr>
          <p:cNvSpPr/>
          <p:nvPr/>
        </p:nvSpPr>
        <p:spPr>
          <a:xfrm>
            <a:off x="12544927" y="7717139"/>
            <a:ext cx="2053389" cy="5124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 sz="24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720E532-8324-457C-B2E2-2913C2D881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243" y="66441"/>
            <a:ext cx="1881683" cy="6875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978</Words>
  <Application>Microsoft Office PowerPoint</Application>
  <PresentationFormat>Personalizado</PresentationFormat>
  <Paragraphs>149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Roboto</vt:lpstr>
      <vt:lpstr>Calibri</vt:lpstr>
      <vt:lpstr>Arial Black</vt:lpstr>
      <vt:lpstr>Raleway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NestorAbila</dc:creator>
  <cp:lastModifiedBy>Nestor Abila</cp:lastModifiedBy>
  <cp:revision>23</cp:revision>
  <dcterms:created xsi:type="dcterms:W3CDTF">2025-11-27T22:47:09Z</dcterms:created>
  <dcterms:modified xsi:type="dcterms:W3CDTF">2025-12-15T17:19:29Z</dcterms:modified>
</cp:coreProperties>
</file>