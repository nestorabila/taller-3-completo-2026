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21"/>
    <p:sldId id="275" r:id="rId22"/>
    <p:sldId id="276" r:id="rId23"/>
    <p:sldId id="287" r:id="rId24"/>
    <p:sldId id="288" r:id="rId25"/>
    <p:sldId id="277" r:id="rId26"/>
    <p:sldId id="278" r:id="rId27"/>
    <p:sldId id="279" r:id="rId28"/>
    <p:sldId id="289" r:id="rId29"/>
    <p:sldId id="290" r:id="rId30"/>
    <p:sldId id="282" r:id="rId31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2" autoAdjust="0"/>
    <p:restoredTop sz="94660"/>
  </p:normalViewPr>
  <p:slideViewPr>
    <p:cSldViewPr snapToGrid="0">
      <p:cViewPr>
        <p:scale>
          <a:sx n="70" d="100"/>
          <a:sy n="70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D3F3C-9271-43AA-B02A-05660EDE7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42F3-53B2-44CC-9407-E19CBF878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4DDBFC-828D-4E37-BB8D-6A8D8848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D61B38-CB32-40BB-9FC3-C1F4FE05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8F03DE-A0B7-4B26-BC47-BCAA2013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85756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A8DE1-052C-485B-B3F2-DF0FB236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06ADF4-4F6B-44D4-8F98-35B01C790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98CF62-F113-4760-9F85-ACDC8E54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1407D-440B-46F1-8977-86605C87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7519EB-516F-41E3-B84A-47C2967E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3401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8FAE2-A32C-42DE-A11D-26DB6F43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522762-B9E4-4EDC-9A57-0E4C29427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401BB4-50E1-4A3A-BD8B-B2AF04F3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BC678C-4AB8-42D8-9296-21E9BEE4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A911CE-E083-4E41-A986-E788A5C6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958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662BE-2192-4A6D-80BD-21BE13BD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2C3351-CF58-4286-A9C2-43E72F924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78A10F-AD5F-45BE-B201-72812981A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58DF97-5BAC-4097-A11C-42BE882A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DD9B41-BF84-4E7F-A54D-0ACF079B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E99CFB-E47D-4A6D-9222-6D8F92A1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7492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6FBF4-A137-4BE6-A71B-46E8EB8F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438F9A-E21D-4475-BA9C-79DA63F47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E7B3FE-8721-414B-951C-E7E0795BD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41B2D2-3620-40C3-9839-8B841D0C6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F21EDBC-3E4F-4BB4-9D98-511DC5C74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AA9125-9C79-46F2-9125-982CC0CC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846675-E6F7-4EA4-9E4C-C5B99E22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6CAAAC-29DF-4FDE-86F9-2BCF304D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0792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9BC82-5642-43D3-A936-695CF49F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1C138F-1D09-4AAF-A9E5-2F5CA7FC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958DDF8-0DDB-4B81-BEFB-FEA7A2B3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D8A4623-F2A9-46FA-B1EE-5F252C57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9356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E7E327-DE75-4A46-AE9F-B3831756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5F04BDB-8D27-45EF-B5EC-4BDCD5F0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4BD82-6D0E-496F-98F9-EF938564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09407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D8019-8E78-4B33-8896-B80A51386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5A79D-2818-4121-92B0-A1A4772AE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DD5F39-99CC-46F1-A04C-23E1E6D4A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F240FF-98BC-4D61-AFFC-C8BA9C79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BFC726-11FC-4D27-B8DB-16B69F75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E4E7FF-C20C-4E59-BEEE-BD7D17EA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1300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1FBB0-391C-450B-B43B-617EBEFB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805DE4-3C9F-4D4A-8335-D2BD748CB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CF057A-062C-41C3-9540-5D47C3485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48EC48-A358-4578-8FB0-BD5586D3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3707A8-D075-4919-AD15-1566C744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517673-4A78-489A-AC56-DD33DEA0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1832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54600-9A93-4BD3-A927-B4CE132B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0DFD21-FC93-4A9E-8850-B9BD9DD0B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25BDF1-BB62-4050-8C64-5EBA9BF4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0BA840-D65B-4193-81F9-699FC8DC4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463F90-7E1F-4BEA-A774-15A10F96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029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7AB9BB-0BC6-42E1-8D53-19D078DCC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9A1BC4-8021-4A5B-8634-BAD3F3352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E57C9-C38C-4699-BD17-4E566C17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67E92F-4AB8-4EE2-9198-1596C09B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47C0F9-4C11-4F32-A9E4-7E2DBE9A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7830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29FAEF-D4DE-4595-8F66-CD54A851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3D6824-26DA-4DA6-8642-0A3528227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A6DA4B-B9D4-4066-937F-C7964592B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D371B-13F8-41F3-A7C4-D179D49B6711}" type="datetimeFigureOut">
              <a:rPr lang="es-BO" smtClean="0"/>
              <a:t>27/11/2025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983B6B-C3F6-4358-9FBC-354FEF3AD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D00B54-DDE8-430D-9C2B-692239E79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09033-C92D-4CC1-81DE-21D29E95302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9464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jpe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jpe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creacioneslucianitav1-6.onrender.com/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6FE4F5F-3CA4-4BC3-965C-B3B38947A0D6}"/>
              </a:ext>
            </a:extLst>
          </p:cNvPr>
          <p:cNvSpPr txBox="1"/>
          <p:nvPr/>
        </p:nvSpPr>
        <p:spPr>
          <a:xfrm>
            <a:off x="3273287" y="742122"/>
            <a:ext cx="5446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UNIVERSIDAD AUTONOMA JUAN MISAEL SARACHO FACULTAD DE CIENCIAS Y TECNOLOGIA CARRERA DE INGENIERIA INFORMATICA TALLER III</a:t>
            </a:r>
            <a:endParaRPr lang="es-B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AA4E0-D1A9-4E29-A5AC-617F1491C35B}"/>
              </a:ext>
            </a:extLst>
          </p:cNvPr>
          <p:cNvSpPr txBox="1"/>
          <p:nvPr/>
        </p:nvSpPr>
        <p:spPr>
          <a:xfrm>
            <a:off x="1033669" y="3219846"/>
            <a:ext cx="1065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“MEJORAMIENTO DE LA GESTIÓN DE COMPRAS Y VENTAS DE CREACIONES LUCIANITA A TRAVES DE LAS TIC”</a:t>
            </a:r>
            <a:endParaRPr lang="es-B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B195D3-F5AD-43A8-AD8E-464F7C719B7B}"/>
              </a:ext>
            </a:extLst>
          </p:cNvPr>
          <p:cNvSpPr txBox="1"/>
          <p:nvPr/>
        </p:nvSpPr>
        <p:spPr>
          <a:xfrm>
            <a:off x="4492486" y="5512904"/>
            <a:ext cx="300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Tarija Bolivia 20254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3C988D-F3BF-42DF-B53D-9BF4EE22DACB}"/>
              </a:ext>
            </a:extLst>
          </p:cNvPr>
          <p:cNvSpPr txBox="1"/>
          <p:nvPr/>
        </p:nvSpPr>
        <p:spPr>
          <a:xfrm>
            <a:off x="3776868" y="4039751"/>
            <a:ext cx="516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POR: NESTOR ABILA FLORES CLEMENTE</a:t>
            </a:r>
          </a:p>
        </p:txBody>
      </p:sp>
      <p:sp>
        <p:nvSpPr>
          <p:cNvPr id="8" name="AutoShape 2" descr="EscudoUajms – UAJMS » Universidad Autónoma Juan Misael Saracho">
            <a:extLst>
              <a:ext uri="{FF2B5EF4-FFF2-40B4-BE49-F238E27FC236}">
                <a16:creationId xmlns:a16="http://schemas.microsoft.com/office/drawing/2014/main" id="{548D2CA4-F5B4-4C0F-9363-ABD8F5F556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4728702-6A8C-4F4A-BE0B-8FA9BE223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3" y="449124"/>
            <a:ext cx="1661077" cy="21341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E567C29-53D8-4006-B22B-A89CD810B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89" y="574632"/>
            <a:ext cx="3125027" cy="13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6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lecha: hacia arriba 31">
            <a:extLst>
              <a:ext uri="{FF2B5EF4-FFF2-40B4-BE49-F238E27FC236}">
                <a16:creationId xmlns:a16="http://schemas.microsoft.com/office/drawing/2014/main" id="{38501D51-4D0F-4F31-B43B-C1097ECAD487}"/>
              </a:ext>
            </a:extLst>
          </p:cNvPr>
          <p:cNvSpPr/>
          <p:nvPr/>
        </p:nvSpPr>
        <p:spPr>
          <a:xfrm rot="5400000">
            <a:off x="7614658" y="4934754"/>
            <a:ext cx="793783" cy="14283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C84D240-898C-42EE-AF81-698C1A8974D8}"/>
              </a:ext>
            </a:extLst>
          </p:cNvPr>
          <p:cNvSpPr txBox="1"/>
          <p:nvPr/>
        </p:nvSpPr>
        <p:spPr>
          <a:xfrm>
            <a:off x="795130" y="636104"/>
            <a:ext cx="214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b="1" dirty="0"/>
              <a:t>Antecedentes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AF8DAAA-4C1D-463B-827B-E057097B0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8" y="1258954"/>
            <a:ext cx="2332382" cy="23986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C589A6C-E607-4FD5-ACFE-4FC14548AA11}"/>
              </a:ext>
            </a:extLst>
          </p:cNvPr>
          <p:cNvSpPr txBox="1"/>
          <p:nvPr/>
        </p:nvSpPr>
        <p:spPr>
          <a:xfrm>
            <a:off x="795130" y="3784683"/>
            <a:ext cx="3035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Barrio Eduardo Avaroa, Tarija, Cercado. Fundado 2018</a:t>
            </a:r>
          </a:p>
        </p:txBody>
      </p:sp>
      <p:pic>
        <p:nvPicPr>
          <p:cNvPr id="2051" name="Picture 3" descr="Departamento de tarija mapa división administrativa de bolivia | Vector ...">
            <a:extLst>
              <a:ext uri="{FF2B5EF4-FFF2-40B4-BE49-F238E27FC236}">
                <a16:creationId xmlns:a16="http://schemas.microsoft.com/office/drawing/2014/main" id="{0FB9BAB4-2A33-4700-9FB4-4E6573CEC2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0" t="18358" r="4589" b="19806"/>
          <a:stretch/>
        </p:blipFill>
        <p:spPr bwMode="auto">
          <a:xfrm>
            <a:off x="8057321" y="820770"/>
            <a:ext cx="3591339" cy="242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385C3A09-983C-45BC-9891-3F5FB6DB9E89}"/>
              </a:ext>
            </a:extLst>
          </p:cNvPr>
          <p:cNvGrpSpPr/>
          <p:nvPr/>
        </p:nvGrpSpPr>
        <p:grpSpPr>
          <a:xfrm>
            <a:off x="4426226" y="3935032"/>
            <a:ext cx="2478158" cy="2492273"/>
            <a:chOff x="5393633" y="820770"/>
            <a:chExt cx="2743203" cy="2890705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8A309FB6-4E14-4A34-B777-9700C3077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3633" y="820770"/>
              <a:ext cx="1445352" cy="1445352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4410CD0C-AF25-46FE-8BA6-1C0F17686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8986" y="820771"/>
              <a:ext cx="1297850" cy="1445352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DB709067-8896-488E-9905-D10624FD9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3634" y="2266123"/>
              <a:ext cx="1445352" cy="1445352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43752E3C-CFDA-473F-9FC0-93660497A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8985" y="2266122"/>
              <a:ext cx="1297851" cy="1445352"/>
            </a:xfrm>
            <a:prstGeom prst="rect">
              <a:avLst/>
            </a:prstGeom>
          </p:spPr>
        </p:pic>
      </p:grpSp>
      <p:sp>
        <p:nvSpPr>
          <p:cNvPr id="24" name="Flecha: hacia arriba 23">
            <a:extLst>
              <a:ext uri="{FF2B5EF4-FFF2-40B4-BE49-F238E27FC236}">
                <a16:creationId xmlns:a16="http://schemas.microsoft.com/office/drawing/2014/main" id="{1D0F2F27-AC28-46E5-A891-44BB9E49A3A0}"/>
              </a:ext>
            </a:extLst>
          </p:cNvPr>
          <p:cNvSpPr/>
          <p:nvPr/>
        </p:nvSpPr>
        <p:spPr>
          <a:xfrm rot="3180122">
            <a:off x="7152490" y="2358949"/>
            <a:ext cx="841874" cy="141781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B51818C-B345-4149-878D-2A8F5663E8EB}"/>
              </a:ext>
            </a:extLst>
          </p:cNvPr>
          <p:cNvSpPr txBox="1"/>
          <p:nvPr/>
        </p:nvSpPr>
        <p:spPr>
          <a:xfrm rot="19281890">
            <a:off x="6835623" y="2703765"/>
            <a:ext cx="192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1400" b="1" dirty="0">
                <a:solidFill>
                  <a:schemeClr val="bg1"/>
                </a:solidFill>
              </a:rPr>
              <a:t>Distribución</a:t>
            </a:r>
            <a:endParaRPr lang="es-BO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8FF5BD3-A06A-4B73-B068-C9DAC5DDB83F}"/>
              </a:ext>
            </a:extLst>
          </p:cNvPr>
          <p:cNvSpPr txBox="1"/>
          <p:nvPr/>
        </p:nvSpPr>
        <p:spPr>
          <a:xfrm>
            <a:off x="9651963" y="2472093"/>
            <a:ext cx="1731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Cercado</a:t>
            </a:r>
          </a:p>
          <a:p>
            <a:r>
              <a:rPr lang="es-MX" dirty="0"/>
              <a:t>Bermejo</a:t>
            </a:r>
          </a:p>
          <a:p>
            <a:r>
              <a:rPr lang="es-MX" dirty="0"/>
              <a:t>San lorenzo</a:t>
            </a:r>
          </a:p>
          <a:p>
            <a:r>
              <a:rPr lang="es-MX" dirty="0"/>
              <a:t>Yacuiba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C39B00A-3B00-49D7-AD80-918F61B3C55B}"/>
              </a:ext>
            </a:extLst>
          </p:cNvPr>
          <p:cNvSpPr txBox="1"/>
          <p:nvPr/>
        </p:nvSpPr>
        <p:spPr>
          <a:xfrm>
            <a:off x="242036" y="4558100"/>
            <a:ext cx="3777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Objetivo:</a:t>
            </a:r>
            <a:r>
              <a:rPr lang="es-MX" dirty="0"/>
              <a:t> Generar ingresos y aplicar conocimientos en manualidades.</a:t>
            </a:r>
            <a:endParaRPr lang="es-BO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5A3BF50-E3BB-44F7-BDCB-6AECE1CB4A4B}"/>
              </a:ext>
            </a:extLst>
          </p:cNvPr>
          <p:cNvSpPr txBox="1"/>
          <p:nvPr/>
        </p:nvSpPr>
        <p:spPr>
          <a:xfrm>
            <a:off x="7297374" y="5455643"/>
            <a:ext cx="1693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1400" b="1" dirty="0">
                <a:solidFill>
                  <a:schemeClr val="bg1"/>
                </a:solidFill>
              </a:rPr>
              <a:t>Comercialización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D58C07A9-C9DB-4F87-8BEA-3D7C9C626D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8717" y="4868666"/>
            <a:ext cx="1172453" cy="127133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E478BD17-87E2-43B1-AAD7-AA43E1DEAF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408" y="241310"/>
            <a:ext cx="1893355" cy="1893355"/>
          </a:xfrm>
          <a:prstGeom prst="rect">
            <a:avLst/>
          </a:prstGeom>
        </p:spPr>
      </p:pic>
      <p:sp>
        <p:nvSpPr>
          <p:cNvPr id="36" name="Flecha: hacia arriba 35">
            <a:extLst>
              <a:ext uri="{FF2B5EF4-FFF2-40B4-BE49-F238E27FC236}">
                <a16:creationId xmlns:a16="http://schemas.microsoft.com/office/drawing/2014/main" id="{6B5C8CD1-C9C5-4BC1-90A9-DC4577B115DF}"/>
              </a:ext>
            </a:extLst>
          </p:cNvPr>
          <p:cNvSpPr/>
          <p:nvPr/>
        </p:nvSpPr>
        <p:spPr>
          <a:xfrm rot="10800000">
            <a:off x="5111739" y="2405753"/>
            <a:ext cx="793783" cy="14283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F02B0C9-B882-4207-9BD5-EFD9CDBB2514}"/>
              </a:ext>
            </a:extLst>
          </p:cNvPr>
          <p:cNvSpPr txBox="1"/>
          <p:nvPr/>
        </p:nvSpPr>
        <p:spPr>
          <a:xfrm rot="5400000">
            <a:off x="4885561" y="2849862"/>
            <a:ext cx="124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Proveedor</a:t>
            </a:r>
            <a:r>
              <a:rPr lang="es-MX" dirty="0"/>
              <a:t> </a:t>
            </a:r>
            <a:endParaRPr lang="es-BO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A49937F-75B1-49AE-9B10-CC458102E4D4}"/>
              </a:ext>
            </a:extLst>
          </p:cNvPr>
          <p:cNvSpPr txBox="1"/>
          <p:nvPr/>
        </p:nvSpPr>
        <p:spPr>
          <a:xfrm>
            <a:off x="242036" y="5599046"/>
            <a:ext cx="3959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Equipo Actual</a:t>
            </a:r>
            <a:r>
              <a:rPr lang="es-MX" dirty="0"/>
              <a:t>: </a:t>
            </a:r>
          </a:p>
          <a:p>
            <a:r>
              <a:rPr lang="es-MX" dirty="0"/>
              <a:t>-Propietaria</a:t>
            </a:r>
          </a:p>
          <a:p>
            <a:r>
              <a:rPr lang="es-MX" dirty="0"/>
              <a:t>-Responsable de ventas</a:t>
            </a:r>
          </a:p>
          <a:p>
            <a:r>
              <a:rPr lang="es-MX" dirty="0"/>
              <a:t>-2 personas en producción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B129A5-279B-42CB-A876-63CB23175ED6}"/>
              </a:ext>
            </a:extLst>
          </p:cNvPr>
          <p:cNvSpPr txBox="1"/>
          <p:nvPr/>
        </p:nvSpPr>
        <p:spPr>
          <a:xfrm>
            <a:off x="4364257" y="6473259"/>
            <a:ext cx="318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Elaboración de Manualidades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67404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5F52955-7F6D-4117-80EC-0E0771371216}"/>
              </a:ext>
            </a:extLst>
          </p:cNvPr>
          <p:cNvSpPr txBox="1"/>
          <p:nvPr/>
        </p:nvSpPr>
        <p:spPr>
          <a:xfrm>
            <a:off x="649357" y="503583"/>
            <a:ext cx="3790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Planteamiento del 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1ACC74-AAE4-4AAC-8040-37F0BE8B1485}"/>
              </a:ext>
            </a:extLst>
          </p:cNvPr>
          <p:cNvSpPr txBox="1"/>
          <p:nvPr/>
        </p:nvSpPr>
        <p:spPr>
          <a:xfrm>
            <a:off x="3850568" y="1666282"/>
            <a:ext cx="6704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Ineficiencia en los procesos y control de compras, ventas y pedidos en creaciones Lucianita</a:t>
            </a:r>
            <a:endParaRPr lang="es-B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A3ADE6-5433-43AA-9616-E69D0403B7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6" t="24155" r="13070" b="37777"/>
          <a:stretch/>
        </p:blipFill>
        <p:spPr>
          <a:xfrm>
            <a:off x="911820" y="1401587"/>
            <a:ext cx="2469297" cy="26582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F2102D9-2748-41F2-8748-73EBCF7BB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166" y="3105980"/>
            <a:ext cx="2620425" cy="25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49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D00EFE-1475-4E5E-8D2A-119488D73D2B}"/>
              </a:ext>
            </a:extLst>
          </p:cNvPr>
          <p:cNvSpPr txBox="1"/>
          <p:nvPr/>
        </p:nvSpPr>
        <p:spPr>
          <a:xfrm>
            <a:off x="755374" y="583096"/>
            <a:ext cx="5897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Justificación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A4CA9E-B09A-4E83-9248-7049BF2C31FE}"/>
              </a:ext>
            </a:extLst>
          </p:cNvPr>
          <p:cNvSpPr txBox="1"/>
          <p:nvPr/>
        </p:nvSpPr>
        <p:spPr>
          <a:xfrm>
            <a:off x="2739191" y="2025498"/>
            <a:ext cx="338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Tecnológico</a:t>
            </a:r>
            <a:endParaRPr lang="es-B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AA49E0-57F2-4F7C-A3EE-CFF23098405B}"/>
              </a:ext>
            </a:extLst>
          </p:cNvPr>
          <p:cNvSpPr txBox="1"/>
          <p:nvPr/>
        </p:nvSpPr>
        <p:spPr>
          <a:xfrm>
            <a:off x="5587917" y="4431449"/>
            <a:ext cx="338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Económica</a:t>
            </a:r>
            <a:endParaRPr lang="es-B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5F8458-695E-451A-8014-601CDEC8A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600" y="955821"/>
            <a:ext cx="3832810" cy="287801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99F11BC-4928-499C-AD8F-CF677E343CE3}"/>
              </a:ext>
            </a:extLst>
          </p:cNvPr>
          <p:cNvSpPr/>
          <p:nvPr/>
        </p:nvSpPr>
        <p:spPr>
          <a:xfrm>
            <a:off x="2851484" y="2394829"/>
            <a:ext cx="1624263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030FE7C-5689-415F-BD51-2037408E6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144" y="3695380"/>
            <a:ext cx="2763504" cy="221080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0157E7F2-7144-48F7-9785-14C377239C7E}"/>
              </a:ext>
            </a:extLst>
          </p:cNvPr>
          <p:cNvSpPr/>
          <p:nvPr/>
        </p:nvSpPr>
        <p:spPr>
          <a:xfrm>
            <a:off x="5028328" y="4755062"/>
            <a:ext cx="1624263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1654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D030C2E-4361-4E8E-ABAE-DEA71ABEA364}"/>
              </a:ext>
            </a:extLst>
          </p:cNvPr>
          <p:cNvSpPr txBox="1"/>
          <p:nvPr/>
        </p:nvSpPr>
        <p:spPr>
          <a:xfrm>
            <a:off x="609600" y="583095"/>
            <a:ext cx="1094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b="1" dirty="0"/>
              <a:t>Objetivos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D04B92-972F-4695-A67B-DD565950AA37}"/>
              </a:ext>
            </a:extLst>
          </p:cNvPr>
          <p:cNvSpPr txBox="1"/>
          <p:nvPr/>
        </p:nvSpPr>
        <p:spPr>
          <a:xfrm>
            <a:off x="724902" y="1096562"/>
            <a:ext cx="5238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Objetivo general</a:t>
            </a:r>
          </a:p>
          <a:p>
            <a:r>
              <a:rPr lang="es-MX" dirty="0"/>
              <a:t> Mejorar la gestión compras y ventas de Creaciones Lucianita a treves de las TIC. </a:t>
            </a:r>
            <a:endParaRPr lang="es-B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A3D764-9756-4CFF-A78C-CAD861ACE454}"/>
              </a:ext>
            </a:extLst>
          </p:cNvPr>
          <p:cNvSpPr txBox="1"/>
          <p:nvPr/>
        </p:nvSpPr>
        <p:spPr>
          <a:xfrm>
            <a:off x="5963652" y="3604736"/>
            <a:ext cx="60939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Objetivos específicos </a:t>
            </a:r>
          </a:p>
          <a:p>
            <a:r>
              <a:rPr lang="es-MX" dirty="0"/>
              <a:t>-Desarrollar Sistema informático web para la gestión de compras y ventas en Creaciones Lucianita. </a:t>
            </a:r>
          </a:p>
          <a:p>
            <a:r>
              <a:rPr lang="es-MX" dirty="0"/>
              <a:t>-Desarrollar Aplicación móvil para la gestión de pedidos. </a:t>
            </a:r>
          </a:p>
          <a:p>
            <a:r>
              <a:rPr lang="es-MX" dirty="0"/>
              <a:t>-Brindar capacitación al personal en el manejo del sistema informático web.</a:t>
            </a:r>
            <a:endParaRPr lang="es-B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BDC426-579A-4058-A189-223965F54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31" y="3048000"/>
            <a:ext cx="2915867" cy="253160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584D8E8-5FAE-471D-B4C6-C5A57E6A1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652" y="481013"/>
            <a:ext cx="5083207" cy="277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50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44C96D6-089F-4555-9E00-131E938F1670}"/>
              </a:ext>
            </a:extLst>
          </p:cNvPr>
          <p:cNvSpPr txBox="1"/>
          <p:nvPr/>
        </p:nvSpPr>
        <p:spPr>
          <a:xfrm>
            <a:off x="410818" y="304800"/>
            <a:ext cx="5512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</a:t>
            </a:r>
            <a:r>
              <a:rPr lang="es-BO" dirty="0" err="1"/>
              <a:t>atriz</a:t>
            </a:r>
            <a:r>
              <a:rPr lang="es-BO" dirty="0"/>
              <a:t> de Marco lógico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807DC4-9832-4944-A664-DEDA42A70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272" y="794448"/>
            <a:ext cx="8438899" cy="552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7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FCBC38-18FA-4C1E-8EE4-D599CB027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19" y="394034"/>
            <a:ext cx="8654967" cy="556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7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FBE64A-27E3-4969-9397-B3924454F44E}"/>
              </a:ext>
            </a:extLst>
          </p:cNvPr>
          <p:cNvSpPr txBox="1"/>
          <p:nvPr/>
        </p:nvSpPr>
        <p:spPr>
          <a:xfrm>
            <a:off x="3244515" y="2290227"/>
            <a:ext cx="59676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/>
              <a:t>COMPONENTE I</a:t>
            </a:r>
          </a:p>
          <a:p>
            <a:pPr algn="ctr"/>
            <a:r>
              <a:rPr lang="es-MX" sz="2000" dirty="0"/>
              <a:t>Sistema informático web para la gestión de compras y ventas en Creaciones Lucianita.</a:t>
            </a:r>
            <a:endParaRPr lang="es-BO" sz="2000" dirty="0"/>
          </a:p>
        </p:txBody>
      </p:sp>
    </p:spTree>
    <p:extLst>
      <p:ext uri="{BB962C8B-B14F-4D97-AF65-F5344CB8AC3E}">
        <p14:creationId xmlns:p14="http://schemas.microsoft.com/office/powerpoint/2010/main" val="2784027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ADEC6A8-D0E9-4E53-B21B-6C77D1968507}"/>
              </a:ext>
            </a:extLst>
          </p:cNvPr>
          <p:cNvSpPr txBox="1"/>
          <p:nvPr/>
        </p:nvSpPr>
        <p:spPr>
          <a:xfrm>
            <a:off x="7603958" y="1219136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Metodología</a:t>
            </a:r>
            <a:endParaRPr lang="es-BO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187600-0F65-460C-808D-9E6741607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09" y="949412"/>
            <a:ext cx="6662989" cy="44419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6ADDED0-09E1-4C6C-837F-9712FB361521}"/>
              </a:ext>
            </a:extLst>
          </p:cNvPr>
          <p:cNvSpPr txBox="1"/>
          <p:nvPr/>
        </p:nvSpPr>
        <p:spPr>
          <a:xfrm>
            <a:off x="7603958" y="1588468"/>
            <a:ext cx="41268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Es una metodología ágil, iterativa e incremental que trabaja en ciclos cortos para entregar partes funcionales del producto, permitiendo adaptarse fácilmente a cambios y mejorar continuamente.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84490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9BBF4FF-31D5-42DC-A87A-B425F788E655}"/>
              </a:ext>
            </a:extLst>
          </p:cNvPr>
          <p:cNvSpPr txBox="1"/>
          <p:nvPr/>
        </p:nvSpPr>
        <p:spPr>
          <a:xfrm>
            <a:off x="3226424" y="3710148"/>
            <a:ext cx="60939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Jira:</a:t>
            </a:r>
            <a:r>
              <a:rPr lang="es-MX" dirty="0"/>
              <a:t> Es una herramienta digital para gestionar proyectos y tareas. Se adapta a Scrum porque permite organizar </a:t>
            </a:r>
            <a:r>
              <a:rPr lang="es-MX" dirty="0" err="1"/>
              <a:t>sprints</a:t>
            </a:r>
            <a:r>
              <a:rPr lang="es-MX" dirty="0"/>
              <a:t>, visualizar el progreso en tableros y hacer seguimiento del trabajo de forma ágil y ordenada.</a:t>
            </a:r>
            <a:endParaRPr lang="es-B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F8F090-9941-4EC7-A90C-D7E69200B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210" y="1252698"/>
            <a:ext cx="425958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9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BB404A1-F111-49BF-95B3-228D1E65A838}"/>
              </a:ext>
            </a:extLst>
          </p:cNvPr>
          <p:cNvSpPr txBox="1"/>
          <p:nvPr/>
        </p:nvSpPr>
        <p:spPr>
          <a:xfrm>
            <a:off x="4987358" y="752962"/>
            <a:ext cx="3320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Backlog Inicial del proyecto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E80D17-1155-4F56-9DA6-4157772E49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08122" y="1216503"/>
            <a:ext cx="8309835" cy="488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34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BA83F9C-2C9F-4955-A9BC-700AEF0F56FD}"/>
              </a:ext>
            </a:extLst>
          </p:cNvPr>
          <p:cNvSpPr txBox="1"/>
          <p:nvPr/>
        </p:nvSpPr>
        <p:spPr>
          <a:xfrm>
            <a:off x="5073383" y="1616300"/>
            <a:ext cx="2427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dirty="0"/>
              <a:t>Creación de épicos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1FE18F-3B84-483B-94DD-FD5E271D3E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76098" y="2138005"/>
            <a:ext cx="7439803" cy="258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4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3EDCC42-A362-486F-B8DA-580476577641}"/>
              </a:ext>
            </a:extLst>
          </p:cNvPr>
          <p:cNvSpPr txBox="1"/>
          <p:nvPr/>
        </p:nvSpPr>
        <p:spPr>
          <a:xfrm>
            <a:off x="4821072" y="368069"/>
            <a:ext cx="3049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b="1" dirty="0"/>
              <a:t>Planificación de los </a:t>
            </a:r>
            <a:r>
              <a:rPr lang="es-BO" b="1" dirty="0" err="1"/>
              <a:t>sprints</a:t>
            </a:r>
            <a:r>
              <a:rPr lang="es-BO" b="1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6E783F-F1F1-4D7C-94AF-3E2F6CF21F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56982" y="1993788"/>
            <a:ext cx="9678035" cy="383296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3D2DA46-4C15-44B7-A83A-2B0E07E643C5}"/>
              </a:ext>
            </a:extLst>
          </p:cNvPr>
          <p:cNvSpPr txBox="1"/>
          <p:nvPr/>
        </p:nvSpPr>
        <p:spPr>
          <a:xfrm>
            <a:off x="2064223" y="852633"/>
            <a:ext cx="9181531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800"/>
              </a:spcAft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 crearon los ocho </a:t>
            </a:r>
            <a:r>
              <a:rPr lang="es-BO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sprints</a:t>
            </a: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distribuyendo las tareas según prioridad y responsables.</a:t>
            </a:r>
          </a:p>
          <a:p>
            <a:r>
              <a:rPr lang="es-B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sprint contiene las historias y tareas en estado Por hacer, listas para su ejecución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637855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D687210-0406-4FDF-A998-53D9C42B18EC}"/>
              </a:ext>
            </a:extLst>
          </p:cNvPr>
          <p:cNvSpPr txBox="1"/>
          <p:nvPr/>
        </p:nvSpPr>
        <p:spPr>
          <a:xfrm>
            <a:off x="5516833" y="544380"/>
            <a:ext cx="443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Arquitectura</a:t>
            </a:r>
            <a:endParaRPr lang="es-BO" b="1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581C81E-40BC-4EB9-AEC4-40E1D95D281A}"/>
              </a:ext>
            </a:extLst>
          </p:cNvPr>
          <p:cNvGrpSpPr/>
          <p:nvPr/>
        </p:nvGrpSpPr>
        <p:grpSpPr>
          <a:xfrm>
            <a:off x="2766364" y="1486961"/>
            <a:ext cx="6659271" cy="1624729"/>
            <a:chOff x="2757685" y="1432369"/>
            <a:chExt cx="6659271" cy="1624729"/>
          </a:xfrm>
        </p:grpSpPr>
        <p:pic>
          <p:nvPicPr>
            <p:cNvPr id="7172" name="Picture 4" descr="Server icon for cloud storage or internet network 16597541 Vector Art ...">
              <a:extLst>
                <a:ext uri="{FF2B5EF4-FFF2-40B4-BE49-F238E27FC236}">
                  <a16:creationId xmlns:a16="http://schemas.microsoft.com/office/drawing/2014/main" id="{3CC9360F-DC62-4E1A-824C-9BFD95469F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01" t="13532" r="23665" b="13831"/>
            <a:stretch/>
          </p:blipFill>
          <p:spPr bwMode="auto">
            <a:xfrm>
              <a:off x="5351426" y="1463722"/>
              <a:ext cx="1169931" cy="1593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4" name="Picture 6">
              <a:extLst>
                <a:ext uri="{FF2B5EF4-FFF2-40B4-BE49-F238E27FC236}">
                  <a16:creationId xmlns:a16="http://schemas.microsoft.com/office/drawing/2014/main" id="{5B2DDA0C-D6DD-478B-BD36-6C5E4FEF9D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8" t="23880" r="31227" b="23980"/>
            <a:stretch/>
          </p:blipFill>
          <p:spPr bwMode="auto">
            <a:xfrm>
              <a:off x="2757685" y="1448045"/>
              <a:ext cx="1131176" cy="1593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6" name="Picture 8" descr="Front End Vector Icon 16813073 Vector Art at Vecteezy">
              <a:extLst>
                <a:ext uri="{FF2B5EF4-FFF2-40B4-BE49-F238E27FC236}">
                  <a16:creationId xmlns:a16="http://schemas.microsoft.com/office/drawing/2014/main" id="{8A8700FE-5A38-4FD9-8782-A7D0E7270F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6519" y="1432369"/>
              <a:ext cx="1610437" cy="1624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5F8EDEDD-D8D7-4C73-9D05-34CEF1363633}"/>
                </a:ext>
              </a:extLst>
            </p:cNvPr>
            <p:cNvCxnSpPr>
              <a:cxnSpLocks/>
            </p:cNvCxnSpPr>
            <p:nvPr/>
          </p:nvCxnSpPr>
          <p:spPr>
            <a:xfrm>
              <a:off x="4234622" y="2260410"/>
              <a:ext cx="494344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39A41DB7-32B1-4EE6-BBAC-BA4520FF8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2043" y="2239291"/>
              <a:ext cx="1014867" cy="21119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724F015-8C0A-4CC8-BF35-CDDDAB3AC4EF}"/>
              </a:ext>
            </a:extLst>
          </p:cNvPr>
          <p:cNvSpPr txBox="1"/>
          <p:nvPr/>
        </p:nvSpPr>
        <p:spPr>
          <a:xfrm>
            <a:off x="2493191" y="1117629"/>
            <a:ext cx="167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Datos Negocio</a:t>
            </a:r>
            <a:endParaRPr lang="es-BO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1EC6E7B-A4B1-4FDD-BB67-1D4A1B509FBD}"/>
              </a:ext>
            </a:extLst>
          </p:cNvPr>
          <p:cNvSpPr txBox="1"/>
          <p:nvPr/>
        </p:nvSpPr>
        <p:spPr>
          <a:xfrm>
            <a:off x="4737645" y="1117629"/>
            <a:ext cx="241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Aplicación del servidor</a:t>
            </a:r>
            <a:endParaRPr lang="es-BO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462B231-1C2A-40FA-9BF1-D275D1520806}"/>
              </a:ext>
            </a:extLst>
          </p:cNvPr>
          <p:cNvSpPr txBox="1"/>
          <p:nvPr/>
        </p:nvSpPr>
        <p:spPr>
          <a:xfrm>
            <a:off x="7471588" y="1117629"/>
            <a:ext cx="241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Aplicaciones Cliente</a:t>
            </a:r>
            <a:endParaRPr lang="es-BO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3668C07-637E-4C49-8DD9-9E3453B90CC4}"/>
              </a:ext>
            </a:extLst>
          </p:cNvPr>
          <p:cNvSpPr/>
          <p:nvPr/>
        </p:nvSpPr>
        <p:spPr>
          <a:xfrm>
            <a:off x="2504173" y="1672909"/>
            <a:ext cx="59540" cy="1241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537175D-0DE8-4773-9DDA-A08E7C8BE859}"/>
              </a:ext>
            </a:extLst>
          </p:cNvPr>
          <p:cNvSpPr txBox="1"/>
          <p:nvPr/>
        </p:nvSpPr>
        <p:spPr>
          <a:xfrm rot="5400000">
            <a:off x="9070292" y="2188066"/>
            <a:ext cx="1571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Capa Cliente</a:t>
            </a:r>
            <a:endParaRPr lang="es-BO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E6A4068-110A-4448-80F7-038316C1600A}"/>
              </a:ext>
            </a:extLst>
          </p:cNvPr>
          <p:cNvSpPr txBox="1"/>
          <p:nvPr/>
        </p:nvSpPr>
        <p:spPr>
          <a:xfrm rot="5400000">
            <a:off x="4156318" y="2246400"/>
            <a:ext cx="1837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Capa Intermedia</a:t>
            </a:r>
            <a:endParaRPr lang="es-BO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8BEC970-31E5-4722-AEC4-50575DBFE12A}"/>
              </a:ext>
            </a:extLst>
          </p:cNvPr>
          <p:cNvSpPr txBox="1"/>
          <p:nvPr/>
        </p:nvSpPr>
        <p:spPr>
          <a:xfrm rot="5400000">
            <a:off x="1610471" y="2130336"/>
            <a:ext cx="149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Capa Servidor</a:t>
            </a:r>
            <a:endParaRPr lang="es-BO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AB893F3-386C-4B9C-ACCE-486D1CC5B0D4}"/>
              </a:ext>
            </a:extLst>
          </p:cNvPr>
          <p:cNvSpPr/>
          <p:nvPr/>
        </p:nvSpPr>
        <p:spPr>
          <a:xfrm>
            <a:off x="9596496" y="1672908"/>
            <a:ext cx="59540" cy="1241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4FE963E-7100-47E6-94AC-2D76D2592FDB}"/>
              </a:ext>
            </a:extLst>
          </p:cNvPr>
          <p:cNvSpPr/>
          <p:nvPr/>
        </p:nvSpPr>
        <p:spPr>
          <a:xfrm>
            <a:off x="5200496" y="1751758"/>
            <a:ext cx="59540" cy="1241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C6E4E39-B57E-463C-A31F-C6B06C73E1D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547" t="13910" r="9239" b="14447"/>
          <a:stretch/>
        </p:blipFill>
        <p:spPr>
          <a:xfrm>
            <a:off x="2806810" y="4148452"/>
            <a:ext cx="831147" cy="771166"/>
          </a:xfrm>
          <a:prstGeom prst="rect">
            <a:avLst/>
          </a:prstGeom>
        </p:spPr>
      </p:pic>
      <p:grpSp>
        <p:nvGrpSpPr>
          <p:cNvPr id="55" name="Grupo 54">
            <a:extLst>
              <a:ext uri="{FF2B5EF4-FFF2-40B4-BE49-F238E27FC236}">
                <a16:creationId xmlns:a16="http://schemas.microsoft.com/office/drawing/2014/main" id="{5239B18F-157F-4586-8D74-55719CFAECBB}"/>
              </a:ext>
            </a:extLst>
          </p:cNvPr>
          <p:cNvGrpSpPr/>
          <p:nvPr/>
        </p:nvGrpSpPr>
        <p:grpSpPr>
          <a:xfrm>
            <a:off x="7763106" y="4061496"/>
            <a:ext cx="2555952" cy="2271065"/>
            <a:chOff x="7763106" y="4061496"/>
            <a:chExt cx="2977774" cy="2571625"/>
          </a:xfrm>
        </p:grpSpPr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B4FE8B0-9C5B-428A-BD6A-11B564F32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84019" y="4061496"/>
              <a:ext cx="666906" cy="741007"/>
            </a:xfrm>
            <a:prstGeom prst="rect">
              <a:avLst/>
            </a:prstGeom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D70E12F7-A687-47A1-9AD1-BF300B587A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20604" b="14780"/>
            <a:stretch/>
          </p:blipFill>
          <p:spPr>
            <a:xfrm>
              <a:off x="7763106" y="4925928"/>
              <a:ext cx="968316" cy="721943"/>
            </a:xfrm>
            <a:prstGeom prst="rect">
              <a:avLst/>
            </a:prstGeom>
          </p:spPr>
        </p:pic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85AB58B8-B012-42EE-905D-28394AEA6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61570" y="4097692"/>
              <a:ext cx="709714" cy="774233"/>
            </a:xfrm>
            <a:prstGeom prst="rect">
              <a:avLst/>
            </a:prstGeom>
          </p:spPr>
        </p:pic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11F925CB-3B89-4645-88F6-C0D064FB3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930527" y="4997216"/>
              <a:ext cx="677097" cy="743155"/>
            </a:xfrm>
            <a:prstGeom prst="rect">
              <a:avLst/>
            </a:prstGeom>
          </p:spPr>
        </p:pic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D6B2C626-1B8B-4D01-B0A1-FCA6A6F01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03929" y="5821375"/>
              <a:ext cx="721943" cy="721943"/>
            </a:xfrm>
            <a:prstGeom prst="rect">
              <a:avLst/>
            </a:prstGeom>
          </p:spPr>
        </p:pic>
        <p:pic>
          <p:nvPicPr>
            <p:cNvPr id="45" name="Imagen 44">
              <a:extLst>
                <a:ext uri="{FF2B5EF4-FFF2-40B4-BE49-F238E27FC236}">
                  <a16:creationId xmlns:a16="http://schemas.microsoft.com/office/drawing/2014/main" id="{E4BD99ED-406A-4BD3-82EC-583D8CCBD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910713" y="5902701"/>
              <a:ext cx="685783" cy="730420"/>
            </a:xfrm>
            <a:prstGeom prst="rect">
              <a:avLst/>
            </a:prstGeom>
          </p:spPr>
        </p:pic>
        <p:pic>
          <p:nvPicPr>
            <p:cNvPr id="47" name="Imagen 46">
              <a:extLst>
                <a:ext uri="{FF2B5EF4-FFF2-40B4-BE49-F238E27FC236}">
                  <a16:creationId xmlns:a16="http://schemas.microsoft.com/office/drawing/2014/main" id="{68F023FA-0E40-4074-97C4-B95032A337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31138" t="12664" r="29855" b="13335"/>
            <a:stretch/>
          </p:blipFill>
          <p:spPr>
            <a:xfrm>
              <a:off x="9886437" y="4148452"/>
              <a:ext cx="854443" cy="844247"/>
            </a:xfrm>
            <a:prstGeom prst="rect">
              <a:avLst/>
            </a:prstGeom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24530BA3-4DCF-455E-8DD8-3F179B4CC092}"/>
              </a:ext>
            </a:extLst>
          </p:cNvPr>
          <p:cNvGrpSpPr/>
          <p:nvPr/>
        </p:nvGrpSpPr>
        <p:grpSpPr>
          <a:xfrm>
            <a:off x="5565967" y="4061496"/>
            <a:ext cx="733405" cy="2373423"/>
            <a:chOff x="5565967" y="4061496"/>
            <a:chExt cx="790840" cy="2603764"/>
          </a:xfrm>
        </p:grpSpPr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1FE50771-A9C7-4D4C-A74E-39AF5338D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565967" y="4061496"/>
              <a:ext cx="790840" cy="799726"/>
            </a:xfrm>
            <a:prstGeom prst="rect">
              <a:avLst/>
            </a:prstGeom>
          </p:spPr>
        </p:pic>
        <p:pic>
          <p:nvPicPr>
            <p:cNvPr id="50" name="Imagen 49">
              <a:extLst>
                <a:ext uri="{FF2B5EF4-FFF2-40B4-BE49-F238E27FC236}">
                  <a16:creationId xmlns:a16="http://schemas.microsoft.com/office/drawing/2014/main" id="{4648B42C-CD2A-4131-82D7-339F2AA55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599625" y="4992699"/>
              <a:ext cx="690888" cy="799726"/>
            </a:xfrm>
            <a:prstGeom prst="rect">
              <a:avLst/>
            </a:prstGeom>
          </p:spPr>
        </p:pic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F84813C5-BDF8-40F6-9028-666825E83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565967" y="5842320"/>
              <a:ext cx="685783" cy="822940"/>
            </a:xfrm>
            <a:prstGeom prst="rect">
              <a:avLst/>
            </a:prstGeom>
          </p:spPr>
        </p:pic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8FA7E6F-3818-4D05-A5F9-B7782BBB7AE8}"/>
              </a:ext>
            </a:extLst>
          </p:cNvPr>
          <p:cNvSpPr txBox="1"/>
          <p:nvPr/>
        </p:nvSpPr>
        <p:spPr>
          <a:xfrm>
            <a:off x="3953317" y="3429678"/>
            <a:ext cx="590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Tecnologías para el desarrollo del componente </a:t>
            </a:r>
            <a:endParaRPr lang="es-BO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514FE307-F648-428B-80E6-C83066D80AD1}"/>
              </a:ext>
            </a:extLst>
          </p:cNvPr>
          <p:cNvSpPr txBox="1"/>
          <p:nvPr/>
        </p:nvSpPr>
        <p:spPr>
          <a:xfrm>
            <a:off x="16672" y="3449208"/>
            <a:ext cx="1690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dirty="0"/>
              <a:t>Herramientas</a:t>
            </a:r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5F89E05A-81CA-4A10-B828-00F2EF6A411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9028" y="4090478"/>
            <a:ext cx="652391" cy="686728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59C1FFC0-E2A4-40E4-9B64-4E8A0EF9A1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2279" y="4883864"/>
            <a:ext cx="729140" cy="725717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3FD8B096-33A4-4144-81CE-06A0EF73292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595" y="5794461"/>
            <a:ext cx="729141" cy="72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2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VC: Modelo Vista Controlador">
            <a:extLst>
              <a:ext uri="{FF2B5EF4-FFF2-40B4-BE49-F238E27FC236}">
                <a16:creationId xmlns:a16="http://schemas.microsoft.com/office/drawing/2014/main" id="{8C8FFD4E-6ABA-4571-BF59-AD6623660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4A5683C-D739-4923-8536-64D0E9A8E1A9}"/>
              </a:ext>
            </a:extLst>
          </p:cNvPr>
          <p:cNvSpPr/>
          <p:nvPr/>
        </p:nvSpPr>
        <p:spPr>
          <a:xfrm>
            <a:off x="259307" y="218364"/>
            <a:ext cx="4503762" cy="122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88C621-120A-4257-865F-18DA6A925754}"/>
              </a:ext>
            </a:extLst>
          </p:cNvPr>
          <p:cNvSpPr txBox="1"/>
          <p:nvPr/>
        </p:nvSpPr>
        <p:spPr>
          <a:xfrm>
            <a:off x="3207224" y="1077331"/>
            <a:ext cx="3971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b="1" dirty="0"/>
              <a:t>modelo relacional orientado a objetos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AE6EB4-E955-4A54-BC58-026462BD3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1" y="4689294"/>
            <a:ext cx="744846" cy="8515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8DF0F47-7D5B-4619-A1B4-1A7CA5C04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722" y="5115044"/>
            <a:ext cx="640712" cy="72897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AC1F842-26F5-45A5-B4D8-114684B0AF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547" t="13910" r="9239" b="14447"/>
          <a:stretch/>
        </p:blipFill>
        <p:spPr>
          <a:xfrm>
            <a:off x="4572001" y="2523994"/>
            <a:ext cx="641444" cy="46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36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AEE38FD-B1F1-4C0A-9737-9F3B8B498C6A}"/>
              </a:ext>
            </a:extLst>
          </p:cNvPr>
          <p:cNvSpPr txBox="1"/>
          <p:nvPr/>
        </p:nvSpPr>
        <p:spPr>
          <a:xfrm>
            <a:off x="3824786" y="592409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Lenguaje Unificado de Modelado (UML)</a:t>
            </a:r>
            <a:endParaRPr lang="es-B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924DEAB-D05B-42FF-A597-7440F161AB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85" t="2742" r="17152"/>
          <a:stretch/>
        </p:blipFill>
        <p:spPr>
          <a:xfrm>
            <a:off x="6318913" y="1323834"/>
            <a:ext cx="2825087" cy="461336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86A4089-E217-4504-8E49-98769446BA97}"/>
              </a:ext>
            </a:extLst>
          </p:cNvPr>
          <p:cNvSpPr txBox="1"/>
          <p:nvPr/>
        </p:nvSpPr>
        <p:spPr>
          <a:xfrm>
            <a:off x="2059675" y="2891854"/>
            <a:ext cx="40363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BO" dirty="0"/>
              <a:t>Diagramas de casos de uso. </a:t>
            </a:r>
          </a:p>
          <a:p>
            <a:pPr algn="r"/>
            <a:r>
              <a:rPr lang="es-BO" dirty="0"/>
              <a:t>Diagramas de secuencias. </a:t>
            </a:r>
          </a:p>
          <a:p>
            <a:pPr algn="r"/>
            <a:r>
              <a:rPr lang="es-BO" dirty="0"/>
              <a:t>Diagrama de Actividades</a:t>
            </a:r>
          </a:p>
          <a:p>
            <a:pPr algn="r"/>
            <a:r>
              <a:rPr lang="es-BO" dirty="0"/>
              <a:t>Diagramas de clases </a:t>
            </a:r>
          </a:p>
          <a:p>
            <a:pPr algn="r"/>
            <a:r>
              <a:rPr lang="es-BO" dirty="0"/>
              <a:t>Diagrama Entidad Relación</a:t>
            </a:r>
          </a:p>
        </p:txBody>
      </p:sp>
    </p:spTree>
    <p:extLst>
      <p:ext uri="{BB962C8B-B14F-4D97-AF65-F5344CB8AC3E}">
        <p14:creationId xmlns:p14="http://schemas.microsoft.com/office/powerpoint/2010/main" val="1645358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9E51DA-EA7A-4150-A5B1-2CECB16D883B}"/>
              </a:ext>
            </a:extLst>
          </p:cNvPr>
          <p:cNvSpPr txBox="1"/>
          <p:nvPr/>
        </p:nvSpPr>
        <p:spPr>
          <a:xfrm>
            <a:off x="4930254" y="490899"/>
            <a:ext cx="3012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dirty="0"/>
              <a:t>Diagrama de casos de uso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B2B70E-26DF-474B-84F7-6D1250E2E80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619" y="983866"/>
            <a:ext cx="5878195" cy="52724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6739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888527B-5293-4D6A-BC3F-70E696DCFDE7}"/>
              </a:ext>
            </a:extLst>
          </p:cNvPr>
          <p:cNvSpPr txBox="1"/>
          <p:nvPr/>
        </p:nvSpPr>
        <p:spPr>
          <a:xfrm>
            <a:off x="4971766" y="299830"/>
            <a:ext cx="2248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dirty="0"/>
              <a:t>Diagramas de clases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122173-CCC9-48A6-9C84-856A6AF4D72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812" y="657700"/>
            <a:ext cx="8477033" cy="5900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535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AFE05D-C443-46FC-9377-D4D3678F5A1E}"/>
              </a:ext>
            </a:extLst>
          </p:cNvPr>
          <p:cNvSpPr txBox="1"/>
          <p:nvPr/>
        </p:nvSpPr>
        <p:spPr>
          <a:xfrm>
            <a:off x="4380931" y="757030"/>
            <a:ext cx="437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Ejecución sistema web informático</a:t>
            </a:r>
            <a:endParaRPr lang="es-BO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8F10A9-A6DB-46BE-B38B-81BC0525506F}"/>
              </a:ext>
            </a:extLst>
          </p:cNvPr>
          <p:cNvSpPr txBox="1"/>
          <p:nvPr/>
        </p:nvSpPr>
        <p:spPr>
          <a:xfrm>
            <a:off x="3766782" y="1351128"/>
            <a:ext cx="5936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>
                <a:hlinkClick r:id="rId2"/>
              </a:rPr>
              <a:t>https://creacioneslucianitav1-6.onrender.com/</a:t>
            </a:r>
            <a:endParaRPr lang="es-BO" dirty="0"/>
          </a:p>
          <a:p>
            <a:endParaRPr lang="es-B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81D71C-1DC6-4830-B108-829DAD32AD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285"/>
          <a:stretch/>
        </p:blipFill>
        <p:spPr>
          <a:xfrm>
            <a:off x="4291794" y="1876926"/>
            <a:ext cx="3603862" cy="414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1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FBE64A-27E3-4969-9397-B3924454F44E}"/>
              </a:ext>
            </a:extLst>
          </p:cNvPr>
          <p:cNvSpPr txBox="1"/>
          <p:nvPr/>
        </p:nvSpPr>
        <p:spPr>
          <a:xfrm>
            <a:off x="3244515" y="2290227"/>
            <a:ext cx="59676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/>
              <a:t>COMPONENTE II</a:t>
            </a:r>
          </a:p>
          <a:p>
            <a:pPr algn="ctr"/>
            <a:r>
              <a:rPr lang="es-MX" sz="2800" dirty="0"/>
              <a:t>Aplicación móvil para la gestión de pedidos.</a:t>
            </a:r>
          </a:p>
        </p:txBody>
      </p:sp>
    </p:spTree>
    <p:extLst>
      <p:ext uri="{BB962C8B-B14F-4D97-AF65-F5344CB8AC3E}">
        <p14:creationId xmlns:p14="http://schemas.microsoft.com/office/powerpoint/2010/main" val="205955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63F8AFB-2425-459F-B00A-9BD693D01C95}"/>
              </a:ext>
            </a:extLst>
          </p:cNvPr>
          <p:cNvSpPr txBox="1"/>
          <p:nvPr/>
        </p:nvSpPr>
        <p:spPr>
          <a:xfrm>
            <a:off x="3936029" y="2237543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Tecnologías para el desarrollo del componente </a:t>
            </a:r>
            <a:endParaRPr lang="es-B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B8629D-FCC0-4A31-B856-F9BB1EAEA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294" y="2764347"/>
            <a:ext cx="1329306" cy="1329306"/>
          </a:xfrm>
          <a:prstGeom prst="rect">
            <a:avLst/>
          </a:prstGeom>
        </p:spPr>
      </p:pic>
      <p:sp>
        <p:nvSpPr>
          <p:cNvPr id="6" name="AutoShape 4" descr="Resultado de imagen de icono de ionic angular">
            <a:extLst>
              <a:ext uri="{FF2B5EF4-FFF2-40B4-BE49-F238E27FC236}">
                <a16:creationId xmlns:a16="http://schemas.microsoft.com/office/drawing/2014/main" id="{3BA03CA1-37CD-47B0-9ACA-BC03119307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B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6C0CD1C-A3A6-4F16-B74D-505BB26E5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076" y="2863001"/>
            <a:ext cx="1189630" cy="12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76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01F6066-0036-4CFB-B964-D821A3C7F451}"/>
              </a:ext>
            </a:extLst>
          </p:cNvPr>
          <p:cNvSpPr txBox="1"/>
          <p:nvPr/>
        </p:nvSpPr>
        <p:spPr>
          <a:xfrm>
            <a:off x="4384344" y="586433"/>
            <a:ext cx="2821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dirty="0"/>
              <a:t>Diagrama de casos de uso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E64266-9D4D-4A59-A6B6-6122045652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969" y="1199118"/>
            <a:ext cx="3877903" cy="4381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6423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AFE05D-C443-46FC-9377-D4D3678F5A1E}"/>
              </a:ext>
            </a:extLst>
          </p:cNvPr>
          <p:cNvSpPr txBox="1"/>
          <p:nvPr/>
        </p:nvSpPr>
        <p:spPr>
          <a:xfrm>
            <a:off x="4380931" y="757030"/>
            <a:ext cx="437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Ejecución Aplicación Móvil</a:t>
            </a:r>
            <a:endParaRPr lang="es-BO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02F067-0E96-48A1-B3B6-0B1FED50F24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931" y="1154514"/>
            <a:ext cx="2976818" cy="4946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4149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FBE64A-27E3-4969-9397-B3924454F44E}"/>
              </a:ext>
            </a:extLst>
          </p:cNvPr>
          <p:cNvSpPr txBox="1"/>
          <p:nvPr/>
        </p:nvSpPr>
        <p:spPr>
          <a:xfrm>
            <a:off x="3244515" y="2290227"/>
            <a:ext cx="59676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/>
              <a:t>COMPONENTE III</a:t>
            </a:r>
          </a:p>
          <a:p>
            <a:pPr algn="ctr"/>
            <a:r>
              <a:rPr lang="es-MX" sz="2800" dirty="0"/>
              <a:t>Brindar capacitación al personal en el manejo del sistema informático web.</a:t>
            </a:r>
          </a:p>
        </p:txBody>
      </p:sp>
    </p:spTree>
    <p:extLst>
      <p:ext uri="{BB962C8B-B14F-4D97-AF65-F5344CB8AC3E}">
        <p14:creationId xmlns:p14="http://schemas.microsoft.com/office/powerpoint/2010/main" val="3740371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E5831A5-D150-45E3-96ED-1AC088E1168D}"/>
              </a:ext>
            </a:extLst>
          </p:cNvPr>
          <p:cNvSpPr txBox="1"/>
          <p:nvPr/>
        </p:nvSpPr>
        <p:spPr>
          <a:xfrm>
            <a:off x="522027" y="324468"/>
            <a:ext cx="609372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s-BO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Metodología Demostrativo – Participativa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952C71-F17E-43AC-9BBE-F2E99CD019DC}"/>
              </a:ext>
            </a:extLst>
          </p:cNvPr>
          <p:cNvSpPr txBox="1"/>
          <p:nvPr/>
        </p:nvSpPr>
        <p:spPr>
          <a:xfrm>
            <a:off x="893929" y="1526906"/>
            <a:ext cx="2152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Fase Expositiva</a:t>
            </a:r>
            <a:endParaRPr lang="es-B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263781A-4FB2-4A44-A0AC-05688313A814}"/>
              </a:ext>
            </a:extLst>
          </p:cNvPr>
          <p:cNvSpPr txBox="1"/>
          <p:nvPr/>
        </p:nvSpPr>
        <p:spPr>
          <a:xfrm>
            <a:off x="636551" y="4316526"/>
            <a:ext cx="2152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Fase Demostrativa</a:t>
            </a:r>
            <a:endParaRPr lang="es-B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D090180-F25C-4E98-A65A-C7313FE6225D}"/>
              </a:ext>
            </a:extLst>
          </p:cNvPr>
          <p:cNvSpPr txBox="1"/>
          <p:nvPr/>
        </p:nvSpPr>
        <p:spPr>
          <a:xfrm>
            <a:off x="9190062" y="1703749"/>
            <a:ext cx="2046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Fase Participativa</a:t>
            </a:r>
            <a:endParaRPr lang="es-B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00D9D72-AA53-4D87-A900-38B3E1C315E5}"/>
              </a:ext>
            </a:extLst>
          </p:cNvPr>
          <p:cNvSpPr txBox="1"/>
          <p:nvPr/>
        </p:nvSpPr>
        <p:spPr>
          <a:xfrm>
            <a:off x="9042042" y="4376538"/>
            <a:ext cx="2835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Fase de Retroalimentación</a:t>
            </a:r>
            <a:endParaRPr lang="es-BO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2FD102C-7314-40F5-B338-E5E16CBC8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27" y="1896238"/>
            <a:ext cx="2235622" cy="223562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ED98518-F173-418B-B309-7DFCA7E9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9" y="4845591"/>
            <a:ext cx="1773240" cy="177324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FE1682A-DC15-4A09-B999-9BEC26119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989" y="2356092"/>
            <a:ext cx="1552769" cy="155276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0B31BB6-EDFC-4189-ACD9-64C93D8DE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319" y="5013970"/>
            <a:ext cx="1552769" cy="143648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184D98D-EDF6-495D-95C8-219E48ADDCF0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9" t="17157" r="13801" b="16836"/>
          <a:stretch/>
        </p:blipFill>
        <p:spPr bwMode="auto">
          <a:xfrm>
            <a:off x="3698909" y="1896238"/>
            <a:ext cx="4324350" cy="43243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14713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44999AC-2867-4B75-8BF6-861DE1D1DBB9}"/>
              </a:ext>
            </a:extLst>
          </p:cNvPr>
          <p:cNvSpPr txBox="1"/>
          <p:nvPr/>
        </p:nvSpPr>
        <p:spPr>
          <a:xfrm>
            <a:off x="412845" y="449955"/>
            <a:ext cx="2193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b="1" dirty="0"/>
              <a:t>Conclusiones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26D8F9-FA64-4A29-BC07-000812DDDF6F}"/>
              </a:ext>
            </a:extLst>
          </p:cNvPr>
          <p:cNvSpPr txBox="1"/>
          <p:nvPr/>
        </p:nvSpPr>
        <p:spPr>
          <a:xfrm>
            <a:off x="649975" y="819287"/>
            <a:ext cx="106736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En el proyecto se desarrollaron tres componentes esenciales donde: </a:t>
            </a:r>
          </a:p>
          <a:p>
            <a:endParaRPr lang="es-MX" dirty="0"/>
          </a:p>
          <a:p>
            <a:r>
              <a:rPr lang="es-MX" dirty="0"/>
              <a:t>• El primer componente abarcó el desarrollo de un sistema informático web para la gestión de compras y ventas de Creaciones Lucianita, alcanzando de manera efectiva el objetivo planteado de este componente. El sistema fue diseñado y programado cumpliendo con los requerimientos bajo la norma IEEE830 y se realizaron pruebas funcionales y no funcionales, evaluando su rendimiento, seguridad y compatibilidad, lo que confirmó su eficiencia. Esto permitió automatizar el 89.47% de los procesos de compras y ventas, logrando optimizar significativamente la gestión administrativa de Creaciones Lucianita. </a:t>
            </a:r>
          </a:p>
          <a:p>
            <a:endParaRPr lang="es-MX" dirty="0"/>
          </a:p>
          <a:p>
            <a:r>
              <a:rPr lang="es-MX" dirty="0"/>
              <a:t>• El segundo componente abarco el desarrollo de una aplicación móvil para la gestión de pedidos, destinada a los clientes. La aplicación fue diseñada y programada con base en los requerimientos establecidos y se realizaron pruebas de funcionamiento que garantizaron su eficiencia y correcta operación en dispositivos Android. </a:t>
            </a:r>
          </a:p>
          <a:p>
            <a:endParaRPr lang="es-MX" dirty="0"/>
          </a:p>
          <a:p>
            <a:r>
              <a:rPr lang="es-MX" dirty="0"/>
              <a:t>• El tercer componente consistió en la capacitación al personal en el uso del sistema informático web, logrando que los usuarios comprendan y utilicen adecuadamente todas las funcionalidades del sistema, asegurando un manejo eficiente de los procesos de compras y ventas.</a:t>
            </a:r>
          </a:p>
          <a:p>
            <a:endParaRPr lang="es-MX" dirty="0"/>
          </a:p>
          <a:p>
            <a:r>
              <a:rPr lang="es-MX" dirty="0"/>
              <a:t> </a:t>
            </a:r>
            <a:r>
              <a:rPr lang="es-MX" b="1" dirty="0"/>
              <a:t>En conclusión</a:t>
            </a:r>
            <a:r>
              <a:rPr lang="es-MX" dirty="0"/>
              <a:t>: La implementación de sistema informático y aplicación móvil adecuadas permite optimizar los procesos administrativos, mejorar la comunicación interna y la atención al cliente, así como garantizar la veracidad de la información y la eficiencia en la gestión de compras y ventas en Creaciones Lucianita.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854730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8EBC622-4581-467B-9D7C-7DB1BD2DFED9}"/>
              </a:ext>
            </a:extLst>
          </p:cNvPr>
          <p:cNvSpPr txBox="1"/>
          <p:nvPr/>
        </p:nvSpPr>
        <p:spPr>
          <a:xfrm>
            <a:off x="576618" y="463603"/>
            <a:ext cx="1975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b="1" dirty="0"/>
              <a:t>Recomendaciones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4B71A5-412B-45D8-96E2-8B3BCE5819F3}"/>
              </a:ext>
            </a:extLst>
          </p:cNvPr>
          <p:cNvSpPr txBox="1"/>
          <p:nvPr/>
        </p:nvSpPr>
        <p:spPr>
          <a:xfrm>
            <a:off x="999699" y="727619"/>
            <a:ext cx="9031406" cy="5402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800"/>
              </a:spcAft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Una vez concluido el proyecto</a:t>
            </a:r>
            <a:r>
              <a:rPr lang="es-BO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Mejoramiento de la gestión de compras y ventas de Creaciones Lucianita, se recomienda:</a:t>
            </a:r>
            <a:endParaRPr lang="es-BO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800"/>
              </a:spcAft>
            </a:pPr>
            <a:r>
              <a:rPr lang="es-BO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la propietaria de Creaciones Lucianita:</a:t>
            </a:r>
            <a:endParaRPr lang="es-BO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Mantener los recursos tecnológicos y la conectividad adecuados para garantizar el funcionamiento continuo del sistema web y la aplicación móvil.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Establecer formalmente al responsable del uso y administración del sistema, asegurando su sostenibilidad a largo plazo.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Asignar un presupuesto para mantenimiento, actualización y futuras mejoras del sistema web y la aplicación móvil.</a:t>
            </a:r>
          </a:p>
        </p:txBody>
      </p:sp>
    </p:spTree>
    <p:extLst>
      <p:ext uri="{BB962C8B-B14F-4D97-AF65-F5344CB8AC3E}">
        <p14:creationId xmlns:p14="http://schemas.microsoft.com/office/powerpoint/2010/main" val="2587830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9354247-32B5-4B42-A853-2B39000DC78C}"/>
              </a:ext>
            </a:extLst>
          </p:cNvPr>
          <p:cNvSpPr txBox="1"/>
          <p:nvPr/>
        </p:nvSpPr>
        <p:spPr>
          <a:xfrm>
            <a:off x="627797" y="277361"/>
            <a:ext cx="7789459" cy="4192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800"/>
              </a:spcAft>
            </a:pPr>
            <a:r>
              <a:rPr lang="es-BO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 personal que gestiona el sistema:</a:t>
            </a:r>
            <a:endParaRPr lang="es-BO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Definir roles de usuario claramente para evitar modificaciones indebidas en la información del sistema.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Revisar el manual de usuario y seguir las instrucciones para un correcto uso, mantenimiento y futura ampliación del sistema.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Continuar con capacitaciones periódicas para reforzar el uso adecuado del sistema web y la aplicación móvil.</a:t>
            </a:r>
          </a:p>
        </p:txBody>
      </p:sp>
    </p:spTree>
    <p:extLst>
      <p:ext uri="{BB962C8B-B14F-4D97-AF65-F5344CB8AC3E}">
        <p14:creationId xmlns:p14="http://schemas.microsoft.com/office/powerpoint/2010/main" val="3157394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57B5331-4D5A-4368-8D61-1139BB959A95}"/>
              </a:ext>
            </a:extLst>
          </p:cNvPr>
          <p:cNvSpPr txBox="1"/>
          <p:nvPr/>
        </p:nvSpPr>
        <p:spPr>
          <a:xfrm>
            <a:off x="395785" y="-124976"/>
            <a:ext cx="10959151" cy="6613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800"/>
              </a:spcAft>
            </a:pPr>
            <a:r>
              <a:rPr lang="es-BO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nuevos desarrolladores:</a:t>
            </a:r>
            <a:endParaRPr lang="es-BO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Revisar el manual de usuario y de instalación antes de realizar cualquier intervención.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Contar con conocimientos en desarrollo web y móvil (por ejemplo, Angular, Node.js, PostgreSQL, </a:t>
            </a:r>
            <a:r>
              <a:rPr lang="es-BO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Ionic</a:t>
            </a: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 Android Studio).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Verificar la compatibilidad de los programas antes de instalarlos, para evitar problemas de programación y ahorro de recursos.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 futuras ampliaciones del sistema, considerar módulos adicionales para la gestión contable (</a:t>
            </a:r>
            <a:r>
              <a:rPr lang="es-BO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Gestion</a:t>
            </a: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pago, inventario producción) y otras funcionalidades que puedan fortalecer el control administrativo.</a:t>
            </a:r>
          </a:p>
          <a:p>
            <a:pPr marL="34290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BO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 general, se recomienda que los estudios y experiencias de este proyecto puedan servir como base para la implementación de sistemas similares en otras microempresas, dado su impacto positivo en la eficiencia de la gestión administrativa y atención al cliente</a:t>
            </a:r>
          </a:p>
        </p:txBody>
      </p:sp>
    </p:spTree>
    <p:extLst>
      <p:ext uri="{BB962C8B-B14F-4D97-AF65-F5344CB8AC3E}">
        <p14:creationId xmlns:p14="http://schemas.microsoft.com/office/powerpoint/2010/main" val="437840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48E583-07EE-4F2D-95DC-9286B8EE6F12}"/>
              </a:ext>
            </a:extLst>
          </p:cNvPr>
          <p:cNvSpPr txBox="1"/>
          <p:nvPr/>
        </p:nvSpPr>
        <p:spPr>
          <a:xfrm>
            <a:off x="4817660" y="3244334"/>
            <a:ext cx="5308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GRACIAS POR SU ATENCION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0111027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961</Words>
  <Application>Microsoft Office PowerPoint</Application>
  <PresentationFormat>Panorámica</PresentationFormat>
  <Paragraphs>101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Nestor Abila</dc:creator>
  <cp:lastModifiedBy>Nestor Abila</cp:lastModifiedBy>
  <cp:revision>23</cp:revision>
  <dcterms:created xsi:type="dcterms:W3CDTF">2025-11-27T17:18:02Z</dcterms:created>
  <dcterms:modified xsi:type="dcterms:W3CDTF">2025-11-27T22:40:52Z</dcterms:modified>
</cp:coreProperties>
</file>